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9" r:id="rId4"/>
    <p:sldId id="276" r:id="rId5"/>
    <p:sldId id="281" r:id="rId6"/>
    <p:sldId id="273" r:id="rId7"/>
    <p:sldId id="283" r:id="rId8"/>
    <p:sldId id="284" r:id="rId9"/>
    <p:sldId id="260" r:id="rId10"/>
    <p:sldId id="261" r:id="rId11"/>
    <p:sldId id="278" r:id="rId12"/>
    <p:sldId id="279" r:id="rId13"/>
    <p:sldId id="280" r:id="rId14"/>
    <p:sldId id="263" r:id="rId15"/>
    <p:sldId id="267" r:id="rId16"/>
    <p:sldId id="285" r:id="rId17"/>
    <p:sldId id="282" r:id="rId18"/>
    <p:sldId id="286" r:id="rId19"/>
    <p:sldId id="269" r:id="rId20"/>
    <p:sldId id="270" r:id="rId21"/>
    <p:sldId id="277" r:id="rId22"/>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112891-77AF-41D4-9591-8A691630F227}">
  <a:tblStyle styleId="{8C112891-77AF-41D4-9591-8A691630F22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4E6"/>
          </a:solidFill>
        </a:fill>
      </a:tcStyle>
    </a:wholeTbl>
    <a:band1H>
      <a:tcTxStyle/>
      <a:tcStyle>
        <a:tcBdr/>
        <a:fill>
          <a:solidFill>
            <a:srgbClr val="FFE8CA"/>
          </a:solidFill>
        </a:fill>
      </a:tcStyle>
    </a:band1H>
    <a:band2H>
      <a:tcTxStyle/>
      <a:tcStyle>
        <a:tcBdr/>
      </a:tcStyle>
    </a:band2H>
    <a:band1V>
      <a:tcTxStyle/>
      <a:tcStyle>
        <a:tcBdr/>
        <a:fill>
          <a:solidFill>
            <a:srgbClr val="FFE8CA"/>
          </a:solidFill>
        </a:fill>
      </a:tcStyle>
    </a:band1V>
    <a:band2V>
      <a:tcTxStyle/>
      <a:tcStyle>
        <a:tcBdr/>
      </a:tcStyle>
    </a:band2V>
    <a:lastCol>
      <a:tcTxStyle b="on" i="off">
        <a:font>
          <a:latin typeface="Calibri"/>
          <a:ea typeface="Calibri"/>
          <a:cs typeface="Calibri"/>
        </a:font>
        <a:schemeClr val="lt1"/>
      </a:tcTxStyle>
      <a:tcStyle>
        <a:tcBdr/>
        <a:fill>
          <a:solidFill>
            <a:schemeClr val="accent4"/>
          </a:solidFill>
        </a:fill>
      </a:tcStyle>
    </a:lastCol>
    <a:firstCol>
      <a:tcTxStyle b="on" i="off">
        <a:font>
          <a:latin typeface="Calibri"/>
          <a:ea typeface="Calibri"/>
          <a:cs typeface="Calibri"/>
        </a:font>
        <a:schemeClr val="lt1"/>
      </a:tcTxStyle>
      <a:tcStyle>
        <a:tcBdr/>
        <a:fill>
          <a:solidFill>
            <a:schemeClr val="accent4"/>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93" autoAdjust="0"/>
  </p:normalViewPr>
  <p:slideViewPr>
    <p:cSldViewPr snapToGrid="0">
      <p:cViewPr>
        <p:scale>
          <a:sx n="66" d="100"/>
          <a:sy n="66" d="100"/>
        </p:scale>
        <p:origin x="87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uthika Karthikeyan" userId="481c26a19beecd06" providerId="LiveId" clId="{8C150BB2-9218-488B-B012-E3F261622E26}"/>
    <pc:docChg chg="custSel modSld">
      <pc:chgData name="Kiruthika Karthikeyan" userId="481c26a19beecd06" providerId="LiveId" clId="{8C150BB2-9218-488B-B012-E3F261622E26}" dt="2026-05-06T05:36:15.696" v="66" actId="120"/>
      <pc:docMkLst>
        <pc:docMk/>
      </pc:docMkLst>
      <pc:sldChg chg="modSp mod">
        <pc:chgData name="Kiruthika Karthikeyan" userId="481c26a19beecd06" providerId="LiveId" clId="{8C150BB2-9218-488B-B012-E3F261622E26}" dt="2026-05-06T04:58:21.706" v="56" actId="20577"/>
        <pc:sldMkLst>
          <pc:docMk/>
          <pc:sldMk cId="0" sldId="256"/>
        </pc:sldMkLst>
        <pc:spChg chg="mod">
          <ac:chgData name="Kiruthika Karthikeyan" userId="481c26a19beecd06" providerId="LiveId" clId="{8C150BB2-9218-488B-B012-E3F261622E26}" dt="2026-05-06T04:58:16.126" v="55" actId="1076"/>
          <ac:spMkLst>
            <pc:docMk/>
            <pc:sldMk cId="0" sldId="256"/>
            <ac:spMk id="3" creationId="{9B99E377-899E-ED57-C909-9C77140BE687}"/>
          </ac:spMkLst>
        </pc:spChg>
        <pc:spChg chg="mod">
          <ac:chgData name="Kiruthika Karthikeyan" userId="481c26a19beecd06" providerId="LiveId" clId="{8C150BB2-9218-488B-B012-E3F261622E26}" dt="2026-05-06T04:57:54.504" v="54" actId="1076"/>
          <ac:spMkLst>
            <pc:docMk/>
            <pc:sldMk cId="0" sldId="256"/>
            <ac:spMk id="5" creationId="{FAD31A4C-2EFE-CCA8-45F7-1482D94EE160}"/>
          </ac:spMkLst>
        </pc:spChg>
        <pc:spChg chg="mod">
          <ac:chgData name="Kiruthika Karthikeyan" userId="481c26a19beecd06" providerId="LiveId" clId="{8C150BB2-9218-488B-B012-E3F261622E26}" dt="2026-05-06T04:58:21.706" v="56" actId="20577"/>
          <ac:spMkLst>
            <pc:docMk/>
            <pc:sldMk cId="0" sldId="256"/>
            <ac:spMk id="251" creationId="{00000000-0000-0000-0000-000000000000}"/>
          </ac:spMkLst>
        </pc:spChg>
      </pc:sldChg>
      <pc:sldChg chg="modSp mod">
        <pc:chgData name="Kiruthika Karthikeyan" userId="481c26a19beecd06" providerId="LiveId" clId="{8C150BB2-9218-488B-B012-E3F261622E26}" dt="2026-05-06T05:36:15.696" v="66" actId="120"/>
        <pc:sldMkLst>
          <pc:docMk/>
          <pc:sldMk cId="0" sldId="267"/>
        </pc:sldMkLst>
        <pc:spChg chg="mod">
          <ac:chgData name="Kiruthika Karthikeyan" userId="481c26a19beecd06" providerId="LiveId" clId="{8C150BB2-9218-488B-B012-E3F261622E26}" dt="2026-05-06T04:28:06.207" v="5" actId="20577"/>
          <ac:spMkLst>
            <pc:docMk/>
            <pc:sldMk cId="0" sldId="267"/>
            <ac:spMk id="3" creationId="{18B118E5-5C8C-C4F6-A6F0-0048251811F6}"/>
          </ac:spMkLst>
        </pc:spChg>
        <pc:spChg chg="mod">
          <ac:chgData name="Kiruthika Karthikeyan" userId="481c26a19beecd06" providerId="LiveId" clId="{8C150BB2-9218-488B-B012-E3F261622E26}" dt="2026-05-06T05:36:15.696" v="66" actId="120"/>
          <ac:spMkLst>
            <pc:docMk/>
            <pc:sldMk cId="0" sldId="267"/>
            <ac:spMk id="3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47" name="Google Shape;2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1" dirty="0">
                <a:latin typeface="Times New Roman" panose="02020603050405020304" pitchFamily="18" charset="0"/>
                <a:cs typeface="Times New Roman" panose="02020603050405020304" pitchFamily="18" charset="0"/>
              </a:rPr>
              <a:t>LIMITATION:</a:t>
            </a:r>
          </a:p>
          <a:p>
            <a:r>
              <a:rPr lang="en-IN" sz="1100" b="1" dirty="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Most existing systems suffer from low accuracy due to limited feature extraction capability. They require manual feature engineering, which increases complexity and reduces efficiency. </a:t>
            </a:r>
          </a:p>
          <a:p>
            <a:r>
              <a:rPr lang="en-US" sz="1100" dirty="0">
                <a:latin typeface="Times New Roman" panose="02020603050405020304" pitchFamily="18" charset="0"/>
                <a:cs typeface="Times New Roman" panose="02020603050405020304" pitchFamily="18" charset="0"/>
              </a:rPr>
              <a:t>These systems do not provide explainability, making it difficult to understand the model’s decision. They also struggle to detect s</a:t>
            </a:r>
            <a:endParaRPr lang="en-IN" dirty="0"/>
          </a:p>
        </p:txBody>
      </p:sp>
    </p:spTree>
    <p:extLst>
      <p:ext uri="{BB962C8B-B14F-4D97-AF65-F5344CB8AC3E}">
        <p14:creationId xmlns:p14="http://schemas.microsoft.com/office/powerpoint/2010/main" val="887473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88543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6464-57DD-0A17-780F-AA753AD4B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82B097-D3E8-B94C-8369-8C042E567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857CFC-3145-A33A-EECF-F676F6BB1C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62AD2B3-17D1-C982-BA59-18C1037DD6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5805C7-909E-D42B-2B95-E70C6E6A86A3}"/>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8737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2CFDA-7A02-B495-895B-4B8AAE2AB3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127D39-5ED9-1545-5BE2-E3454BD4B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291C1-B79D-28A9-48E2-74CF9740943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21C0ADB-B72F-AA6F-21EF-7E23F61740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0A665A-5C8B-96A6-D867-B402ADE50C3B}"/>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99588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D2BE1-E709-F724-036E-906FF0DBA0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F5775E-37D4-733F-8DA2-7D7BE06C55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39F344-D1F2-224F-93BF-F9017B8FAB2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AA552AB-855B-1AF7-9F10-7F9B1A6830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031473-862D-9C66-3E16-8BA23197B9DD}"/>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474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4091-9684-C165-656B-AFA3B23895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0A884C-71CC-257E-67A5-1B00593B75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9FD02B-3415-764C-F363-5D3BD5D46C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83802E-7BD4-5FB8-7DB9-47298587BDE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303C67F-34B7-C449-D45F-A1EB51B04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0B5828-DF6C-6C16-04DB-4653413A1BD8}"/>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14840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2ABB7-580A-B33F-0BD6-EFEB2AC072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07170A-F3E3-4EDE-7888-D9F82CFEEF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B974B5-6950-8F81-FCDE-E4DED9621D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F77672-6596-9231-5A2E-75C1FDB46B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760555-C612-8B8B-0655-94395DEAD0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65CE06-9173-503A-CE00-3DCF2CA45F1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A3B5A5F9-755B-F966-27A9-DE57B37B5D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A94784-0D0A-028D-78F3-0C1C63FD380D}"/>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374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0D41-CE52-A1EA-5392-E7AF06659E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8869CF-4060-3335-C151-6F08C711BA56}"/>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E15619D9-6CAA-E930-C5DC-65D4865963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66F1E6-8E42-39D9-AFEB-3E023AE3DA47}"/>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60421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E0D968-F695-BA3A-4E85-6B72AD4E0BA2}"/>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71184E2-ABAA-D74D-36BD-18F7CED574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46D90D-0E43-F374-9AFA-07216BFDC854}"/>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57508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E06B-8398-C727-FCCE-CC2CC5DACF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37000B-CB16-62C3-6B1C-AD7C6BF796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EF7487-F99B-9DC2-3F93-BCDC9B9FC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6D8468-8856-0217-88BE-E8FBD51FD0E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DACB3FF-655A-7D6A-422A-DE7504C4B9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0DDD95-2AD4-93E6-D6A4-BEB5883F6D33}"/>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2386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C0683-9923-174D-3F81-5E2097ECA8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3F8025-0F97-CBAE-D4E8-7C0F061FCB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8B8E52-CCF5-28E3-4D67-74A8FE825F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62D7C8-5B8B-CB56-FCB5-A624DE65511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5CA8B5D0-AC8E-D122-B52B-AE9ADA362D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ECE785-B7DE-5524-3D99-B59B6C414610}"/>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1791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116A-DB73-3219-44E6-04CFEE9604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E507E-D81E-74D5-F4BC-E70B43D06F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1CFEC0-D3CD-A1E6-759B-6334491FFE4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CCA54F0-103C-0F0C-28C0-4090D8C680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55C6A-6F38-5FC9-3953-C789D37948D3}"/>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13283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0E685-DFE7-4960-970A-87065EA53D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C0D99F-20D0-AF8B-9107-65CE03FE36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966630-58F2-5039-5176-5A5D0051D6D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996C470-E531-C59A-78D6-D4E9124B2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8F69C-374B-F62F-4DB7-D042C11C7A5D}"/>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4559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5C0330-E1B5-7849-4F54-24E10793C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303E8C-5B8E-80DF-AA4F-C1B6699A3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F2D86D-8DE1-CE55-2746-9632EA73EC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697403BC-941C-43FC-47DF-F6D5607A22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074763-B61B-6F10-3152-EBE957F5D7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810890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ieeexplore.ieee.org/document/7830858" TargetMode="External"/><Relationship Id="rId7" Type="http://schemas.openxmlformats.org/officeDocument/2006/relationships/hyperlink" Target="https://arxiv.org/abs/1411.179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papers.nips.cc/paper/4824-imagenet-classification-with-deep-convolutional-neural-networks" TargetMode="External"/><Relationship Id="rId5" Type="http://schemas.openxmlformats.org/officeDocument/2006/relationships/hyperlink" Target="https://www.sciencedirect.com/science/article/pii/S003132030200118X" TargetMode="External"/><Relationship Id="rId4" Type="http://schemas.openxmlformats.org/officeDocument/2006/relationships/hyperlink" Target="https://ieeexplore.ieee.org/document/7467346"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ieeexplore.ieee.org/document/8466590" TargetMode="External"/><Relationship Id="rId2" Type="http://schemas.openxmlformats.org/officeDocument/2006/relationships/hyperlink" Target="https://www.sciencedirect.com/science/article/pii/S016786550500303X" TargetMode="External"/><Relationship Id="rId1" Type="http://schemas.openxmlformats.org/officeDocument/2006/relationships/slideLayout" Target="../slideLayouts/slideLayout2.xml"/><Relationship Id="rId6" Type="http://schemas.openxmlformats.org/officeDocument/2006/relationships/hyperlink" Target="https://arxiv.org/abs/1412.6980" TargetMode="External"/><Relationship Id="rId5" Type="http://schemas.openxmlformats.org/officeDocument/2006/relationships/hyperlink" Target="https://www.sciencedirect.com/science/article/pii/S0031320310004244" TargetMode="External"/><Relationship Id="rId4" Type="http://schemas.openxmlformats.org/officeDocument/2006/relationships/hyperlink" Target="https://arxiv.org/abs/1312.603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19"/>
          <p:cNvSpPr txBox="1">
            <a:spLocks noGrp="1"/>
          </p:cNvSpPr>
          <p:nvPr>
            <p:ph type="title"/>
          </p:nvPr>
        </p:nvSpPr>
        <p:spPr>
          <a:xfrm>
            <a:off x="1545997" y="1982957"/>
            <a:ext cx="10215628" cy="112793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2"/>
              </a:buClr>
              <a:buSzPct val="100000"/>
              <a:buFont typeface="Century Gothic"/>
              <a:buNone/>
            </a:pPr>
            <a:br>
              <a:rPr lang="en-US" sz="3200" dirty="0"/>
            </a:br>
            <a:r>
              <a:rPr lang="en-US" sz="3200" dirty="0"/>
              <a:t> </a:t>
            </a:r>
            <a:endParaRPr sz="3200" b="1" dirty="0">
              <a:latin typeface="Times New Roman" panose="02020603050405020304" pitchFamily="18" charset="0"/>
              <a:cs typeface="Times New Roman" panose="02020603050405020304" pitchFamily="18" charset="0"/>
            </a:endParaRPr>
          </a:p>
        </p:txBody>
      </p:sp>
      <p:sp>
        <p:nvSpPr>
          <p:cNvPr id="251" name="Google Shape;251;p19"/>
          <p:cNvSpPr txBox="1">
            <a:spLocks noGrp="1"/>
          </p:cNvSpPr>
          <p:nvPr>
            <p:ph idx="1"/>
          </p:nvPr>
        </p:nvSpPr>
        <p:spPr>
          <a:xfrm>
            <a:off x="117987" y="4643438"/>
            <a:ext cx="4630994" cy="164963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SzPts val="1440"/>
              <a:buNone/>
            </a:pPr>
            <a:r>
              <a:rPr lang="en-US" sz="2200" b="1" dirty="0">
                <a:solidFill>
                  <a:srgbClr val="002060"/>
                </a:solidFill>
                <a:latin typeface="Times New Roman"/>
                <a:ea typeface="Times New Roman"/>
                <a:cs typeface="Times New Roman"/>
                <a:sym typeface="Times New Roman"/>
              </a:rPr>
              <a:t>GUIDED BY</a:t>
            </a:r>
            <a:endParaRPr sz="2200" dirty="0">
              <a:solidFill>
                <a:srgbClr val="002060"/>
              </a:solidFill>
            </a:endParaRPr>
          </a:p>
          <a:p>
            <a:pPr marL="0" lvl="0" indent="0" algn="l" rtl="0">
              <a:spcBef>
                <a:spcPts val="1000"/>
              </a:spcBef>
              <a:spcAft>
                <a:spcPts val="0"/>
              </a:spcAft>
              <a:buSzPts val="1440"/>
              <a:buNone/>
            </a:pPr>
            <a:r>
              <a:rPr lang="en-US" sz="2200" b="1" dirty="0"/>
              <a:t>              </a:t>
            </a:r>
            <a:r>
              <a:rPr lang="en-US" sz="2200" b="1" dirty="0">
                <a:latin typeface="Times New Roman"/>
                <a:ea typeface="Times New Roman"/>
                <a:cs typeface="Times New Roman"/>
                <a:sym typeface="Times New Roman"/>
              </a:rPr>
              <a:t>MRS. C. KANIMOZHI</a:t>
            </a:r>
          </a:p>
          <a:p>
            <a:pPr marL="0" lvl="0" indent="0" algn="ctr" rtl="0">
              <a:spcBef>
                <a:spcPts val="1000"/>
              </a:spcBef>
              <a:spcAft>
                <a:spcPts val="0"/>
              </a:spcAft>
              <a:buSzPts val="1440"/>
              <a:buNone/>
            </a:pPr>
            <a:r>
              <a:rPr lang="en-US" sz="2200" b="1" dirty="0">
                <a:latin typeface="Times New Roman"/>
                <a:ea typeface="Times New Roman"/>
                <a:cs typeface="Times New Roman"/>
                <a:sym typeface="Times New Roman"/>
              </a:rPr>
              <a:t>ASSISTANT PROFESSOR</a:t>
            </a:r>
          </a:p>
          <a:p>
            <a:pPr marL="0" lvl="0" indent="0" algn="ctr" rtl="0">
              <a:spcBef>
                <a:spcPts val="1000"/>
              </a:spcBef>
              <a:spcAft>
                <a:spcPts val="0"/>
              </a:spcAft>
              <a:buSzPts val="1440"/>
              <a:buNone/>
            </a:pPr>
            <a:r>
              <a:rPr lang="en-US" sz="2200" b="1" dirty="0">
                <a:latin typeface="Times New Roman"/>
                <a:ea typeface="Times New Roman"/>
                <a:cs typeface="Times New Roman"/>
                <a:sym typeface="Times New Roman"/>
              </a:rPr>
              <a:t>DEPARTMENT OF IT </a:t>
            </a:r>
            <a:endParaRPr sz="2200" dirty="0"/>
          </a:p>
        </p:txBody>
      </p:sp>
      <p:sp>
        <p:nvSpPr>
          <p:cNvPr id="3" name="TextBox 2">
            <a:extLst>
              <a:ext uri="{FF2B5EF4-FFF2-40B4-BE49-F238E27FC236}">
                <a16:creationId xmlns:a16="http://schemas.microsoft.com/office/drawing/2014/main" id="{9B99E377-899E-ED57-C909-9C77140BE687}"/>
              </a:ext>
            </a:extLst>
          </p:cNvPr>
          <p:cNvSpPr txBox="1"/>
          <p:nvPr/>
        </p:nvSpPr>
        <p:spPr>
          <a:xfrm>
            <a:off x="6315776" y="4027261"/>
            <a:ext cx="5624522" cy="2023246"/>
          </a:xfrm>
          <a:prstGeom prst="rect">
            <a:avLst/>
          </a:prstGeom>
          <a:noFill/>
        </p:spPr>
        <p:txBody>
          <a:bodyPr wrap="square">
            <a:spAutoFit/>
          </a:bodyPr>
          <a:lstStyle/>
          <a:p>
            <a:pPr marL="0" marR="0" lvl="0" indent="0" algn="ctr" rtl="0">
              <a:lnSpc>
                <a:spcPct val="150000"/>
              </a:lnSpc>
              <a:spcBef>
                <a:spcPts val="0"/>
              </a:spcBef>
              <a:spcAft>
                <a:spcPts val="0"/>
              </a:spcAft>
              <a:buClr>
                <a:schemeClr val="dk1"/>
              </a:buClr>
              <a:buSzPts val="1800"/>
              <a:buFont typeface="Times New Roman"/>
              <a:buNone/>
            </a:pPr>
            <a:endParaRPr lang="en-US" sz="20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chemeClr val="dk1"/>
              </a:buClr>
              <a:buSzPts val="1800"/>
              <a:buFont typeface="Times New Roman"/>
              <a:buNone/>
            </a:pPr>
            <a:r>
              <a:rPr lang="en-US" sz="2200" b="1" i="0" u="none" strike="noStrike" cap="none" dirty="0">
                <a:solidFill>
                  <a:srgbClr val="002060"/>
                </a:solidFill>
                <a:latin typeface="Times New Roman"/>
                <a:ea typeface="Times New Roman"/>
                <a:cs typeface="Times New Roman"/>
                <a:sym typeface="Times New Roman"/>
              </a:rPr>
              <a:t>SUBMITTED </a:t>
            </a:r>
            <a:endParaRPr lang="en-US" sz="2200" b="1" dirty="0">
              <a:solidFill>
                <a:srgbClr val="00206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chemeClr val="dk1"/>
              </a:buClr>
              <a:buSzPts val="1800"/>
              <a:buFont typeface="Times New Roman"/>
              <a:buNone/>
            </a:pPr>
            <a:r>
              <a:rPr lang="en-US" sz="2200" b="1" dirty="0">
                <a:latin typeface="Times New Roman"/>
                <a:cs typeface="Times New Roman"/>
                <a:sym typeface="Times New Roman"/>
              </a:rPr>
              <a:t>KIRUTHIKA K (810022205060)</a:t>
            </a:r>
          </a:p>
          <a:p>
            <a:pPr marL="0" marR="0" lvl="0" indent="0" algn="ctr" rtl="0">
              <a:lnSpc>
                <a:spcPct val="150000"/>
              </a:lnSpc>
              <a:spcBef>
                <a:spcPts val="0"/>
              </a:spcBef>
              <a:spcAft>
                <a:spcPts val="0"/>
              </a:spcAft>
              <a:buClr>
                <a:schemeClr val="dk1"/>
              </a:buClr>
              <a:buSzPts val="1800"/>
              <a:buFont typeface="Times New Roman"/>
              <a:buNone/>
            </a:pPr>
            <a:r>
              <a:rPr lang="en-US" sz="2200" b="1" dirty="0">
                <a:latin typeface="Times New Roman"/>
                <a:cs typeface="Times New Roman"/>
                <a:sym typeface="Times New Roman"/>
              </a:rPr>
              <a:t>JENCY SHAGAYA SALINI (810022205076)</a:t>
            </a:r>
            <a:endParaRPr lang="en-US" sz="2200" dirty="0"/>
          </a:p>
        </p:txBody>
      </p:sp>
      <p:sp>
        <p:nvSpPr>
          <p:cNvPr id="2" name="object 3">
            <a:extLst>
              <a:ext uri="{FF2B5EF4-FFF2-40B4-BE49-F238E27FC236}">
                <a16:creationId xmlns:a16="http://schemas.microsoft.com/office/drawing/2014/main" id="{08A2157D-982E-767C-2700-F5BC5B01730C}"/>
              </a:ext>
            </a:extLst>
          </p:cNvPr>
          <p:cNvSpPr txBox="1">
            <a:spLocks noGrp="1"/>
          </p:cNvSpPr>
          <p:nvPr/>
        </p:nvSpPr>
        <p:spPr>
          <a:xfrm>
            <a:off x="2203870" y="292319"/>
            <a:ext cx="8467090" cy="1591310"/>
          </a:xfrm>
          <a:prstGeom prst="rect">
            <a:avLst/>
          </a:prstGeom>
          <a:noFill/>
          <a:ln w="9525">
            <a:noFill/>
          </a:ln>
        </p:spPr>
        <p:txBody>
          <a:bodyPr vert="horz" wrap="square" lIns="0" tIns="81280" rIns="0" bIns="0" rtlCol="0" anchor="ctr" anchorCtr="0">
            <a:noAutofit/>
          </a:bodyPr>
          <a:lstStyle>
            <a:defPPr>
              <a:defRPr lang="en-US"/>
            </a:defPPr>
            <a:lvl1pPr marL="0" algn="l" defTabSz="914400" rtl="0" eaLnBrk="1" fontAlgn="base" latinLnBrk="0" hangingPunct="1">
              <a:spcBef>
                <a:spcPct val="0"/>
              </a:spcBef>
              <a:spcAft>
                <a:spcPct val="0"/>
              </a:spcAft>
              <a:defRPr sz="3600" kern="1200">
                <a:solidFill>
                  <a:schemeClr val="tx1"/>
                </a:solidFill>
                <a:latin typeface="+mj-lt"/>
                <a:ea typeface="+mj-ea"/>
                <a:cs typeface="+mj-cs"/>
              </a:defRPr>
            </a:lvl1pPr>
            <a:lvl2pPr marL="4572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2pPr>
            <a:lvl3pPr marL="9144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3pPr>
            <a:lvl4pPr marL="13716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4pPr>
            <a:lvl5pPr marL="18288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5pPr>
            <a:lvl6pPr marL="4572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6pPr>
            <a:lvl7pPr marL="9144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7pPr>
            <a:lvl8pPr marL="13716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8pPr>
            <a:lvl9pPr marL="18288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9pPr>
          </a:lstStyle>
          <a:p>
            <a:pPr marL="12700" marR="5080" algn="ctr">
              <a:lnSpc>
                <a:spcPts val="4320"/>
              </a:lnSpc>
              <a:spcBef>
                <a:spcPts val="640"/>
              </a:spcBef>
            </a:pPr>
            <a:r>
              <a:rPr lang="en-US" altLang="en-US" sz="3200" dirty="0">
                <a:latin typeface="Times New Roman" panose="02020603050405020304" pitchFamily="18" charset="0"/>
                <a:cs typeface="Times New Roman" panose="02020603050405020304" pitchFamily="18" charset="0"/>
              </a:rPr>
              <a:t>UNIVERSITY COLLEGE OF ENGINEERING (BIT CAMPUS) TIRUCHIRAPPALLI</a:t>
            </a:r>
            <a:endParaRPr lang="en-IN" altLang="en-US" sz="3200" dirty="0">
              <a:latin typeface="Times New Roman" panose="02020603050405020304" pitchFamily="18" charset="0"/>
              <a:cs typeface="Times New Roman" panose="02020603050405020304" pitchFamily="18" charset="0"/>
            </a:endParaRPr>
          </a:p>
        </p:txBody>
      </p:sp>
      <p:pic>
        <p:nvPicPr>
          <p:cNvPr id="4" name="Google Shape;72;p15">
            <a:extLst>
              <a:ext uri="{FF2B5EF4-FFF2-40B4-BE49-F238E27FC236}">
                <a16:creationId xmlns:a16="http://schemas.microsoft.com/office/drawing/2014/main" id="{5196512E-5E66-9092-C3F8-D62EF3C5A4C6}"/>
              </a:ext>
            </a:extLst>
          </p:cNvPr>
          <p:cNvPicPr preferRelativeResize="0"/>
          <p:nvPr/>
        </p:nvPicPr>
        <p:blipFill>
          <a:blip r:embed="rId3"/>
          <a:stretch>
            <a:fillRect/>
          </a:stretch>
        </p:blipFill>
        <p:spPr>
          <a:xfrm>
            <a:off x="578270" y="292319"/>
            <a:ext cx="1496695" cy="1356995"/>
          </a:xfrm>
          <a:prstGeom prst="rect">
            <a:avLst/>
          </a:prstGeom>
          <a:noFill/>
          <a:ln>
            <a:noFill/>
          </a:ln>
        </p:spPr>
      </p:pic>
      <p:sp>
        <p:nvSpPr>
          <p:cNvPr id="5" name="TextBox 4">
            <a:extLst>
              <a:ext uri="{FF2B5EF4-FFF2-40B4-BE49-F238E27FC236}">
                <a16:creationId xmlns:a16="http://schemas.microsoft.com/office/drawing/2014/main" id="{FAD31A4C-2EFE-CCA8-45F7-1482D94EE160}"/>
              </a:ext>
            </a:extLst>
          </p:cNvPr>
          <p:cNvSpPr txBox="1"/>
          <p:nvPr/>
        </p:nvSpPr>
        <p:spPr>
          <a:xfrm>
            <a:off x="1960593" y="2510728"/>
            <a:ext cx="8710367" cy="1200329"/>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HANDWRITTEN SIGNATURE FORGERY DETECTION USING CNN WITH EXPLAINABLE AI</a:t>
            </a:r>
          </a:p>
          <a:p>
            <a:pPr algn="ct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BD28B-6D32-9D00-5992-81121D26A74D}"/>
              </a:ext>
            </a:extLst>
          </p:cNvPr>
          <p:cNvSpPr>
            <a:spLocks noGrp="1"/>
          </p:cNvSpPr>
          <p:nvPr>
            <p:ph type="title"/>
          </p:nvPr>
        </p:nvSpPr>
        <p:spPr>
          <a:xfrm>
            <a:off x="622486" y="228601"/>
            <a:ext cx="4461387" cy="545436"/>
          </a:xfrm>
        </p:spPr>
        <p:txBody>
          <a:bodyPr>
            <a:normAutofit/>
          </a:bodyPr>
          <a:lstStyle/>
          <a:p>
            <a:r>
              <a:rPr lang="en-US" sz="2600" b="1" dirty="0">
                <a:latin typeface="Times New Roman" panose="02020603050405020304" pitchFamily="18" charset="0"/>
                <a:cs typeface="Times New Roman" panose="02020603050405020304" pitchFamily="18" charset="0"/>
              </a:rPr>
              <a:t>ABSTRACT :</a:t>
            </a:r>
            <a:endParaRPr lang="en-IN" sz="2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30F1BE-2C6F-89F7-0A3D-E2F145C8CE1A}"/>
              </a:ext>
            </a:extLst>
          </p:cNvPr>
          <p:cNvSpPr>
            <a:spLocks noGrp="1"/>
          </p:cNvSpPr>
          <p:nvPr>
            <p:ph idx="1"/>
          </p:nvPr>
        </p:nvSpPr>
        <p:spPr>
          <a:xfrm>
            <a:off x="787213" y="774037"/>
            <a:ext cx="10691813" cy="5612476"/>
          </a:xfrm>
        </p:spPr>
        <p:txBody>
          <a:bodyPr>
            <a:noAutofit/>
          </a:bodyPr>
          <a:lstStyle/>
          <a:p>
            <a:pPr marL="0" indent="0" algn="just">
              <a:lnSpc>
                <a:spcPct val="110000"/>
              </a:lnSpc>
              <a:spcBef>
                <a:spcPts val="0"/>
              </a:spcBef>
              <a:buSzPct val="80000"/>
              <a:buNone/>
            </a:pPr>
            <a:r>
              <a:rPr lang="en-US" sz="2400" dirty="0">
                <a:latin typeface="Times New Roman" panose="02020603050405020304" pitchFamily="18" charset="0"/>
                <a:cs typeface="Times New Roman" panose="02020603050405020304" pitchFamily="18" charset="0"/>
              </a:rPr>
              <a:t>   	The Handwritten Signature Forgery Detection system is developed to automatically identify whether a given signature is genuine or forged using deep learning techniques. The system analyzes signature images by extracting important visual features such as strokes, curves, and writing patterns. A Convolutional Neural Network (CNN) model with InceptionV3 architecture is used to improve classification </a:t>
            </a:r>
            <a:r>
              <a:rPr lang="en-US" sz="2400" dirty="0" err="1">
                <a:latin typeface="Times New Roman" panose="02020603050405020304" pitchFamily="18" charset="0"/>
                <a:cs typeface="Times New Roman" panose="02020603050405020304" pitchFamily="18" charset="0"/>
              </a:rPr>
              <a:t>accuracy.Data</a:t>
            </a:r>
            <a:r>
              <a:rPr lang="en-US" sz="2400" dirty="0">
                <a:latin typeface="Times New Roman" panose="02020603050405020304" pitchFamily="18" charset="0"/>
                <a:cs typeface="Times New Roman" panose="02020603050405020304" pitchFamily="18" charset="0"/>
              </a:rPr>
              <a:t> preprocessing techniques like resizing, normalization, and noise removal are applied to enhance input quality. The model is trained on both genuine and forged signature datasets to learn distinguishing features. Explainable AI using Grad-CAM is integrated to provide visual explanations by highlighting important regions in the signature. </a:t>
            </a:r>
          </a:p>
          <a:p>
            <a:pPr marL="0" indent="0" algn="just">
              <a:lnSpc>
                <a:spcPct val="110000"/>
              </a:lnSpc>
              <a:spcBef>
                <a:spcPts val="0"/>
              </a:spcBef>
              <a:buSzPct val="80000"/>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39978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1"/>
          <p:cNvSpPr txBox="1">
            <a:spLocks noGrp="1"/>
          </p:cNvSpPr>
          <p:nvPr>
            <p:ph type="title"/>
          </p:nvPr>
        </p:nvSpPr>
        <p:spPr>
          <a:xfrm>
            <a:off x="671785" y="333110"/>
            <a:ext cx="4683300" cy="350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2400"/>
              <a:buFont typeface="Times New Roman"/>
              <a:buNone/>
            </a:pPr>
            <a:r>
              <a:rPr lang="en-US" sz="2400" b="1" dirty="0">
                <a:latin typeface="Times New Roman"/>
                <a:ea typeface="Times New Roman"/>
                <a:cs typeface="Times New Roman"/>
                <a:sym typeface="Times New Roman"/>
              </a:rPr>
              <a:t>PROBLEM STATEMENT:</a:t>
            </a:r>
          </a:p>
        </p:txBody>
      </p:sp>
      <p:sp>
        <p:nvSpPr>
          <p:cNvPr id="2" name="TextBox 1">
            <a:extLst>
              <a:ext uri="{FF2B5EF4-FFF2-40B4-BE49-F238E27FC236}">
                <a16:creationId xmlns:a16="http://schemas.microsoft.com/office/drawing/2014/main" id="{FE20C55A-339F-B1C6-C5E4-40FF87AF199D}"/>
              </a:ext>
            </a:extLst>
          </p:cNvPr>
          <p:cNvSpPr txBox="1"/>
          <p:nvPr/>
        </p:nvSpPr>
        <p:spPr>
          <a:xfrm>
            <a:off x="1273969" y="683210"/>
            <a:ext cx="10246246" cy="6694140"/>
          </a:xfrm>
          <a:prstGeom prst="rect">
            <a:avLst/>
          </a:prstGeom>
          <a:noFill/>
        </p:spPr>
        <p:txBody>
          <a:bodyPr wrap="square" rtlCol="0">
            <a:spAutoFit/>
          </a:bodyPr>
          <a:lstStyle/>
          <a:p>
            <a:pPr marL="342900" indent="-342900" algn="just">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Signature forgery is a common issue in financial institutions and legal documentation, leading to fraud and security risks.</a:t>
            </a:r>
          </a:p>
          <a:p>
            <a:pPr marL="342900" indent="-342900" algn="just">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methods of signature verification rely heavily on manual inspection, which is time-consuming and prone to human error. </a:t>
            </a:r>
          </a:p>
          <a:p>
            <a:pPr marL="342900" indent="-342900" algn="just">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Skilled forgeries are difficult to detect even by experts, making the process unreliable.</a:t>
            </a:r>
          </a:p>
          <a:p>
            <a:pPr marL="342900" indent="-342900" algn="just">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Existing systems lack automation and fail to provide consistent and accurate results. </a:t>
            </a:r>
          </a:p>
          <a:p>
            <a:pPr marL="342900" indent="-342900" algn="just">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is a need for an intelligent system that can automatically detect forged signatures with high accuracy and also provide clear explanations for its decisions.</a:t>
            </a:r>
          </a:p>
          <a:p>
            <a:pPr marL="342900" indent="-342900">
              <a:spcAft>
                <a:spcPts val="600"/>
              </a:spcAf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97EDF4-F634-C4E9-0DFF-3FD0C1AAA32E}"/>
              </a:ext>
            </a:extLst>
          </p:cNvPr>
          <p:cNvSpPr txBox="1"/>
          <p:nvPr/>
        </p:nvSpPr>
        <p:spPr>
          <a:xfrm>
            <a:off x="461913" y="580592"/>
            <a:ext cx="689099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EXISTING SYSTEM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713840-C458-77CD-DFF9-E1A1510221F2}"/>
              </a:ext>
            </a:extLst>
          </p:cNvPr>
          <p:cNvSpPr txBox="1"/>
          <p:nvPr/>
        </p:nvSpPr>
        <p:spPr>
          <a:xfrm>
            <a:off x="565904" y="1042257"/>
            <a:ext cx="10706934" cy="5262979"/>
          </a:xfrm>
          <a:prstGeom prst="rect">
            <a:avLst/>
          </a:prstGeom>
          <a:noFill/>
        </p:spPr>
        <p:txBody>
          <a:bodyPr wrap="square" rtlCol="0">
            <a:spAutoFit/>
          </a:bodyPr>
          <a:lstStyle/>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Many traditional approaches use manual verification or basic machine learning techniques such as Support Vector Machines (SVM) and K-Nearest Neighbors (KNN) for signature classification. </a:t>
            </a:r>
          </a:p>
          <a:p>
            <a:pPr marL="342900" indent="-34290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These methods depend on handcrafted features and require domain expertise. Some systems use image processing techniques to analyze signature patterns. </a:t>
            </a:r>
          </a:p>
          <a:p>
            <a:pPr marL="800100" lvl="1" indent="-34290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Although these approaches provide moderate accuracy, they are not robust enough to handle variations in handwriting styles and complex forgery patterns.</a:t>
            </a:r>
          </a:p>
          <a:p>
            <a:pPr marL="342900" indent="-34290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237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58E8A8-C6AD-D7F0-5823-5301A669E0DF}"/>
              </a:ext>
            </a:extLst>
          </p:cNvPr>
          <p:cNvSpPr txBox="1"/>
          <p:nvPr/>
        </p:nvSpPr>
        <p:spPr>
          <a:xfrm>
            <a:off x="485775" y="428625"/>
            <a:ext cx="10487025" cy="489364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LIMITATION:</a:t>
            </a:r>
          </a:p>
          <a:p>
            <a:r>
              <a:rPr lang="en-IN" sz="2400" b="1"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Most existing systems suffer from low accuracy due to limited feature extraction capability. </a:t>
            </a:r>
          </a:p>
          <a:p>
            <a:pPr marL="342900" indent="-342900" algn="jus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They require manual feature engineering, which increases complexity and reduces efficiency.</a:t>
            </a:r>
          </a:p>
          <a:p>
            <a:pPr algn="just"/>
            <a:r>
              <a:rPr lang="en-US" sz="24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These systems do not provide explainability, making it difficult to understand the model’s decision. </a:t>
            </a:r>
          </a:p>
          <a:p>
            <a:pPr marL="342900" indent="-342900" algn="jus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They also struggle to detect skilled forgeries and lack real-time processing capability.</a:t>
            </a:r>
          </a:p>
        </p:txBody>
      </p:sp>
    </p:spTree>
    <p:extLst>
      <p:ext uri="{BB962C8B-B14F-4D97-AF65-F5344CB8AC3E}">
        <p14:creationId xmlns:p14="http://schemas.microsoft.com/office/powerpoint/2010/main" val="1789513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997FDC-EC8F-2D7E-2F11-6CCB90413C53}"/>
              </a:ext>
            </a:extLst>
          </p:cNvPr>
          <p:cNvSpPr txBox="1"/>
          <p:nvPr/>
        </p:nvSpPr>
        <p:spPr>
          <a:xfrm>
            <a:off x="961534" y="593889"/>
            <a:ext cx="411951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OBJECTIVES :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762116E-151E-848E-1B41-8C9254DA3EB5}"/>
              </a:ext>
            </a:extLst>
          </p:cNvPr>
          <p:cNvSpPr txBox="1"/>
          <p:nvPr/>
        </p:nvSpPr>
        <p:spPr>
          <a:xfrm>
            <a:off x="961534" y="1602557"/>
            <a:ext cx="9323109" cy="4431983"/>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main objective of this project is to develop an automated system for signature forgery detection using deep learning techniques.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aims to accurately classify signatures as genuine or forged using a CNN-based model. </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also focuses on improving reliability by integrating Explainable AI techniques like Grad-CAM to provide visual interpretation of results.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Another objective is to achieve high accuracy and fast prediction suitable for real-world applications.</a:t>
            </a:r>
          </a:p>
          <a:p>
            <a:endParaRPr lang="en-IN" dirty="0"/>
          </a:p>
        </p:txBody>
      </p:sp>
    </p:spTree>
    <p:extLst>
      <p:ext uri="{BB962C8B-B14F-4D97-AF65-F5344CB8AC3E}">
        <p14:creationId xmlns:p14="http://schemas.microsoft.com/office/powerpoint/2010/main" val="78248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5C336D-7A95-1C11-3944-515C631BB697}"/>
              </a:ext>
            </a:extLst>
          </p:cNvPr>
          <p:cNvSpPr txBox="1"/>
          <p:nvPr/>
        </p:nvSpPr>
        <p:spPr>
          <a:xfrm>
            <a:off x="171450" y="114300"/>
            <a:ext cx="8829675" cy="6304611"/>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PROPOSED SYSTEM:</a:t>
            </a:r>
          </a:p>
          <a:p>
            <a:pPr>
              <a:buNone/>
            </a:pPr>
            <a:endParaRPr lang="en-I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Uses </a:t>
            </a:r>
            <a:r>
              <a:rPr lang="en-IN" sz="2400" b="1" dirty="0">
                <a:latin typeface="Times New Roman" panose="02020603050405020304" pitchFamily="18" charset="0"/>
                <a:cs typeface="Times New Roman" panose="02020603050405020304" pitchFamily="18" charset="0"/>
              </a:rPr>
              <a:t>Deep Learning (CNN)</a:t>
            </a:r>
            <a:r>
              <a:rPr lang="en-IN" sz="2400" dirty="0">
                <a:latin typeface="Times New Roman" panose="02020603050405020304" pitchFamily="18" charset="0"/>
                <a:cs typeface="Times New Roman" panose="02020603050405020304" pitchFamily="18" charset="0"/>
              </a:rPr>
              <a:t> for signature verification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Implements </a:t>
            </a:r>
            <a:r>
              <a:rPr lang="en-IN" sz="2400" b="1" dirty="0">
                <a:latin typeface="Times New Roman" panose="02020603050405020304" pitchFamily="18" charset="0"/>
                <a:cs typeface="Times New Roman" panose="02020603050405020304" pitchFamily="18" charset="0"/>
              </a:rPr>
              <a:t>InceptionV3 architecture</a:t>
            </a:r>
            <a:r>
              <a:rPr lang="en-IN" sz="2400" dirty="0">
                <a:latin typeface="Times New Roman" panose="02020603050405020304" pitchFamily="18" charset="0"/>
                <a:cs typeface="Times New Roman" panose="02020603050405020304" pitchFamily="18" charset="0"/>
              </a:rPr>
              <a:t> for feature extraction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Applies </a:t>
            </a:r>
            <a:r>
              <a:rPr lang="en-IN" sz="2400" b="1" dirty="0">
                <a:latin typeface="Times New Roman" panose="02020603050405020304" pitchFamily="18" charset="0"/>
                <a:cs typeface="Times New Roman" panose="02020603050405020304" pitchFamily="18" charset="0"/>
              </a:rPr>
              <a:t>Transfer Learning</a:t>
            </a:r>
            <a:r>
              <a:rPr lang="en-IN" sz="2400" dirty="0">
                <a:latin typeface="Times New Roman" panose="02020603050405020304" pitchFamily="18" charset="0"/>
                <a:cs typeface="Times New Roman" panose="02020603050405020304" pitchFamily="18" charset="0"/>
              </a:rPr>
              <a:t> for better accuracy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Performs </a:t>
            </a:r>
            <a:r>
              <a:rPr lang="en-IN" sz="2400" b="1" dirty="0">
                <a:latin typeface="Times New Roman" panose="02020603050405020304" pitchFamily="18" charset="0"/>
                <a:cs typeface="Times New Roman" panose="02020603050405020304" pitchFamily="18" charset="0"/>
              </a:rPr>
              <a:t>automatic feature extraction</a:t>
            </a:r>
            <a:r>
              <a:rPr lang="en-IN" sz="2400" dirty="0">
                <a:latin typeface="Times New Roman" panose="02020603050405020304" pitchFamily="18" charset="0"/>
                <a:cs typeface="Times New Roman" panose="02020603050405020304" pitchFamily="18" charset="0"/>
              </a:rPr>
              <a:t> (no manual work)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Includes </a:t>
            </a:r>
            <a:r>
              <a:rPr lang="en-IN" sz="2400" b="1" dirty="0">
                <a:latin typeface="Times New Roman" panose="02020603050405020304" pitchFamily="18" charset="0"/>
                <a:cs typeface="Times New Roman" panose="02020603050405020304" pitchFamily="18" charset="0"/>
              </a:rPr>
              <a:t>image preprocessing</a:t>
            </a:r>
            <a:r>
              <a:rPr lang="en-IN" sz="2400" dirty="0">
                <a:latin typeface="Times New Roman" panose="02020603050405020304" pitchFamily="18" charset="0"/>
                <a:cs typeface="Times New Roman" panose="02020603050405020304" pitchFamily="18" charset="0"/>
              </a:rPr>
              <a:t> (resize, normalize, noise removal)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Classifies signatures as </a:t>
            </a:r>
            <a:r>
              <a:rPr lang="en-IN" sz="2400" b="1" dirty="0">
                <a:latin typeface="Times New Roman" panose="02020603050405020304" pitchFamily="18" charset="0"/>
                <a:cs typeface="Times New Roman" panose="02020603050405020304" pitchFamily="18" charset="0"/>
              </a:rPr>
              <a:t>Genuine or Forged</a:t>
            </a:r>
            <a:r>
              <a:rPr lang="en-IN" sz="24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Uses </a:t>
            </a:r>
            <a:r>
              <a:rPr lang="en-IN" sz="2400" b="1" dirty="0">
                <a:latin typeface="Times New Roman" panose="02020603050405020304" pitchFamily="18" charset="0"/>
                <a:cs typeface="Times New Roman" panose="02020603050405020304" pitchFamily="18" charset="0"/>
              </a:rPr>
              <a:t>Sigmoid activation</a:t>
            </a:r>
            <a:r>
              <a:rPr lang="en-IN" sz="2400" dirty="0">
                <a:latin typeface="Times New Roman" panose="02020603050405020304" pitchFamily="18" charset="0"/>
                <a:cs typeface="Times New Roman" panose="02020603050405020304" pitchFamily="18" charset="0"/>
              </a:rPr>
              <a:t> for probability prediction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Integrates </a:t>
            </a:r>
            <a:r>
              <a:rPr lang="en-IN" sz="2400" b="1" dirty="0">
                <a:latin typeface="Times New Roman" panose="02020603050405020304" pitchFamily="18" charset="0"/>
                <a:cs typeface="Times New Roman" panose="02020603050405020304" pitchFamily="18" charset="0"/>
              </a:rPr>
              <a:t>Grad-CAM</a:t>
            </a:r>
            <a:r>
              <a:rPr lang="en-IN" sz="2400" dirty="0">
                <a:latin typeface="Times New Roman" panose="02020603050405020304" pitchFamily="18" charset="0"/>
                <a:cs typeface="Times New Roman" panose="02020603050405020304" pitchFamily="18" charset="0"/>
              </a:rPr>
              <a:t> for explainable results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Generates </a:t>
            </a:r>
            <a:r>
              <a:rPr lang="en-IN" sz="2400" b="1" dirty="0">
                <a:latin typeface="Times New Roman" panose="02020603050405020304" pitchFamily="18" charset="0"/>
                <a:cs typeface="Times New Roman" panose="02020603050405020304" pitchFamily="18" charset="0"/>
              </a:rPr>
              <a:t>confidence score + heatmap visualization</a:t>
            </a:r>
            <a:r>
              <a:rPr lang="en-IN" sz="24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Provides </a:t>
            </a:r>
            <a:r>
              <a:rPr lang="en-IN" sz="2400" b="1" dirty="0">
                <a:latin typeface="Times New Roman" panose="02020603050405020304" pitchFamily="18" charset="0"/>
                <a:cs typeface="Times New Roman" panose="02020603050405020304" pitchFamily="18" charset="0"/>
              </a:rPr>
              <a:t>fast, accurate, and reliable output</a:t>
            </a: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61618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E1B6EE5D-D54D-F0B2-68CF-2572123E5C37}"/>
              </a:ext>
            </a:extLst>
          </p:cNvPr>
          <p:cNvSpPr txBox="1"/>
          <p:nvPr/>
        </p:nvSpPr>
        <p:spPr>
          <a:xfrm>
            <a:off x="271463" y="271464"/>
            <a:ext cx="9272587" cy="6119945"/>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METHODOLOGIES:</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Data Collection</a:t>
            </a:r>
            <a:r>
              <a:rPr lang="en-IN" sz="2400" dirty="0">
                <a:latin typeface="Times New Roman" panose="02020603050405020304" pitchFamily="18" charset="0"/>
                <a:cs typeface="Times New Roman" panose="02020603050405020304" pitchFamily="18" charset="0"/>
              </a:rPr>
              <a:t> – Gather genuine and forged signature images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Data Preprocessing</a:t>
            </a:r>
            <a:r>
              <a:rPr lang="en-IN" sz="2400" dirty="0">
                <a:latin typeface="Times New Roman" panose="02020603050405020304" pitchFamily="18" charset="0"/>
                <a:cs typeface="Times New Roman" panose="02020603050405020304" pitchFamily="18" charset="0"/>
              </a:rPr>
              <a:t> – Resize, normalize, and remove noise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Data Splitting</a:t>
            </a:r>
            <a:r>
              <a:rPr lang="en-IN" sz="2400" dirty="0">
                <a:latin typeface="Times New Roman" panose="02020603050405020304" pitchFamily="18" charset="0"/>
                <a:cs typeface="Times New Roman" panose="02020603050405020304" pitchFamily="18" charset="0"/>
              </a:rPr>
              <a:t> – Divide into training, validation, and testing sets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Model Selection</a:t>
            </a:r>
            <a:r>
              <a:rPr lang="en-IN" sz="2400" dirty="0">
                <a:latin typeface="Times New Roman" panose="02020603050405020304" pitchFamily="18" charset="0"/>
                <a:cs typeface="Times New Roman" panose="02020603050405020304" pitchFamily="18" charset="0"/>
              </a:rPr>
              <a:t> – Use CNN with InceptionV3 architecture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Transfer Learning</a:t>
            </a:r>
            <a:r>
              <a:rPr lang="en-IN" sz="2400" dirty="0">
                <a:latin typeface="Times New Roman" panose="02020603050405020304" pitchFamily="18" charset="0"/>
                <a:cs typeface="Times New Roman" panose="02020603050405020304" pitchFamily="18" charset="0"/>
              </a:rPr>
              <a:t> – Apply pre-trained weights for better performance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Feature Extraction</a:t>
            </a:r>
            <a:r>
              <a:rPr lang="en-IN" sz="2400" dirty="0">
                <a:latin typeface="Times New Roman" panose="02020603050405020304" pitchFamily="18" charset="0"/>
                <a:cs typeface="Times New Roman" panose="02020603050405020304" pitchFamily="18" charset="0"/>
              </a:rPr>
              <a:t> – Extract signature patterns (strokes, curves)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Model Training</a:t>
            </a:r>
            <a:r>
              <a:rPr lang="en-IN" sz="2400" dirty="0">
                <a:latin typeface="Times New Roman" panose="02020603050405020304" pitchFamily="18" charset="0"/>
                <a:cs typeface="Times New Roman" panose="02020603050405020304" pitchFamily="18" charset="0"/>
              </a:rPr>
              <a:t> – Train using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dataset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Model Validation</a:t>
            </a:r>
            <a:r>
              <a:rPr lang="en-IN" sz="2400" dirty="0">
                <a:latin typeface="Times New Roman" panose="02020603050405020304" pitchFamily="18" charset="0"/>
                <a:cs typeface="Times New Roman" panose="02020603050405020304" pitchFamily="18" charset="0"/>
              </a:rPr>
              <a:t> – Evaluate performance during training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Prediction</a:t>
            </a:r>
            <a:r>
              <a:rPr lang="en-IN" sz="2400" dirty="0">
                <a:latin typeface="Times New Roman" panose="02020603050405020304" pitchFamily="18" charset="0"/>
                <a:cs typeface="Times New Roman" panose="02020603050405020304" pitchFamily="18" charset="0"/>
              </a:rPr>
              <a:t> – Classify as Genuine or Forged using threshold </a:t>
            </a:r>
          </a:p>
          <a:p>
            <a:pPr marL="342900" indent="-342900">
              <a:lnSpc>
                <a:spcPct val="150000"/>
              </a:lnSpc>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Explainable AI</a:t>
            </a:r>
            <a:r>
              <a:rPr lang="en-IN" sz="2400" dirty="0">
                <a:latin typeface="Times New Roman" panose="02020603050405020304" pitchFamily="18" charset="0"/>
                <a:cs typeface="Times New Roman" panose="02020603050405020304" pitchFamily="18" charset="0"/>
              </a:rPr>
              <a:t> – Use Grad-CAM for heatmap visualization </a:t>
            </a:r>
          </a:p>
        </p:txBody>
      </p:sp>
    </p:spTree>
    <p:extLst>
      <p:ext uri="{BB962C8B-B14F-4D97-AF65-F5344CB8AC3E}">
        <p14:creationId xmlns:p14="http://schemas.microsoft.com/office/powerpoint/2010/main" val="923543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3"/>
          <p:cNvSpPr txBox="1">
            <a:spLocks noGrp="1"/>
          </p:cNvSpPr>
          <p:nvPr>
            <p:ph type="title"/>
          </p:nvPr>
        </p:nvSpPr>
        <p:spPr>
          <a:xfrm>
            <a:off x="1621799" y="110113"/>
            <a:ext cx="8128102" cy="59839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2400"/>
              <a:buFont typeface="Times New Roman"/>
              <a:buNone/>
            </a:pPr>
            <a:r>
              <a:rPr lang="en-US" sz="2400" b="1" dirty="0">
                <a:latin typeface="Times New Roman"/>
                <a:ea typeface="Times New Roman"/>
                <a:cs typeface="Times New Roman"/>
                <a:sym typeface="Times New Roman"/>
              </a:rPr>
              <a:t>ARCHITECTURAL DESIGN FOR PROPOSED SYSTEM:</a:t>
            </a:r>
          </a:p>
        </p:txBody>
      </p:sp>
      <p:sp>
        <p:nvSpPr>
          <p:cNvPr id="2" name="AutoShape 2">
            <a:extLst>
              <a:ext uri="{FF2B5EF4-FFF2-40B4-BE49-F238E27FC236}">
                <a16:creationId xmlns:a16="http://schemas.microsoft.com/office/drawing/2014/main" id="{3D9306A2-05D0-615E-AD81-1BF705DF1C3C}"/>
              </a:ext>
            </a:extLst>
          </p:cNvPr>
          <p:cNvSpPr>
            <a:spLocks noChangeAspect="1" noChangeArrowheads="1"/>
          </p:cNvSpPr>
          <p:nvPr/>
        </p:nvSpPr>
        <p:spPr bwMode="auto">
          <a:xfrm>
            <a:off x="1055803" y="1140643"/>
            <a:ext cx="8946036" cy="49490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E0D46BED-2B87-824A-5266-6CFD3E3DD3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167A6000-AA9F-9462-EAE0-C63253E12C8E}"/>
              </a:ext>
            </a:extLst>
          </p:cNvPr>
          <p:cNvPicPr>
            <a:picLocks noChangeAspect="1"/>
          </p:cNvPicPr>
          <p:nvPr/>
        </p:nvPicPr>
        <p:blipFill>
          <a:blip r:embed="rId3"/>
          <a:stretch>
            <a:fillRect/>
          </a:stretch>
        </p:blipFill>
        <p:spPr>
          <a:xfrm>
            <a:off x="952500" y="885825"/>
            <a:ext cx="9663113" cy="56099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
          <p:cNvSpPr txBox="1"/>
          <p:nvPr/>
        </p:nvSpPr>
        <p:spPr>
          <a:xfrm>
            <a:off x="489688" y="473283"/>
            <a:ext cx="79542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latin typeface="Times New Roman"/>
                <a:ea typeface="Times New Roman"/>
                <a:cs typeface="Times New Roman"/>
                <a:sym typeface="Times New Roman"/>
              </a:rPr>
              <a:t>TECHNOLOGIES &amp; MACHINE LEARNING MODELS:</a:t>
            </a:r>
            <a:endParaRPr sz="2400" dirty="0">
              <a:latin typeface="Calibri"/>
              <a:ea typeface="Calibri"/>
              <a:cs typeface="Calibri"/>
              <a:sym typeface="Calibri"/>
            </a:endParaRPr>
          </a:p>
        </p:txBody>
      </p:sp>
      <p:sp>
        <p:nvSpPr>
          <p:cNvPr id="5" name="TextBox 4">
            <a:extLst>
              <a:ext uri="{FF2B5EF4-FFF2-40B4-BE49-F238E27FC236}">
                <a16:creationId xmlns:a16="http://schemas.microsoft.com/office/drawing/2014/main" id="{AFBCC34F-17C1-6C13-F88A-6DDE40B6BBE3}"/>
              </a:ext>
            </a:extLst>
          </p:cNvPr>
          <p:cNvSpPr txBox="1"/>
          <p:nvPr/>
        </p:nvSpPr>
        <p:spPr>
          <a:xfrm>
            <a:off x="771526" y="1057275"/>
            <a:ext cx="10987088" cy="5909310"/>
          </a:xfrm>
          <a:prstGeom prst="rect">
            <a:avLst/>
          </a:prstGeom>
          <a:noFill/>
        </p:spPr>
        <p:txBody>
          <a:bodyPr wrap="square" rtlCol="0">
            <a:spAutoFit/>
          </a:bodyPr>
          <a:lstStyle/>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Programming language </a:t>
            </a:r>
          </a:p>
          <a:p>
            <a:pPr marL="342900" indent="-34290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TensorFlow &amp; </a:t>
            </a:r>
            <a:r>
              <a:rPr lang="en-IN" sz="2400" b="1" dirty="0" err="1">
                <a:latin typeface="Times New Roman" panose="02020603050405020304" pitchFamily="18" charset="0"/>
                <a:cs typeface="Times New Roman" panose="02020603050405020304" pitchFamily="18" charset="0"/>
              </a:rPr>
              <a:t>Keras</a:t>
            </a:r>
            <a:r>
              <a:rPr lang="en-IN" sz="2400" dirty="0">
                <a:latin typeface="Times New Roman" panose="02020603050405020304" pitchFamily="18" charset="0"/>
                <a:cs typeface="Times New Roman" panose="02020603050405020304" pitchFamily="18" charset="0"/>
              </a:rPr>
              <a:t> – Deep learning frameworks</a:t>
            </a:r>
          </a:p>
          <a:p>
            <a:r>
              <a:rPr lang="en-IN"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CNN (InceptionV3)</a:t>
            </a:r>
            <a:r>
              <a:rPr lang="en-IN" sz="2400" dirty="0">
                <a:latin typeface="Times New Roman" panose="02020603050405020304" pitchFamily="18" charset="0"/>
                <a:cs typeface="Times New Roman" panose="02020603050405020304" pitchFamily="18" charset="0"/>
              </a:rPr>
              <a:t> – Feature extraction &amp; classification</a:t>
            </a:r>
          </a:p>
          <a:p>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Transfer Learning</a:t>
            </a:r>
            <a:r>
              <a:rPr lang="en-IN" sz="2400" dirty="0">
                <a:latin typeface="Times New Roman" panose="02020603050405020304" pitchFamily="18" charset="0"/>
                <a:cs typeface="Times New Roman" panose="02020603050405020304" pitchFamily="18" charset="0"/>
              </a:rPr>
              <a:t> – Improves accuracy </a:t>
            </a:r>
          </a:p>
          <a:p>
            <a:pPr marL="342900" indent="-34290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OpenCV</a:t>
            </a:r>
            <a:r>
              <a:rPr lang="en-IN" sz="2400" dirty="0">
                <a:latin typeface="Times New Roman" panose="02020603050405020304" pitchFamily="18" charset="0"/>
                <a:cs typeface="Times New Roman" panose="02020603050405020304" pitchFamily="18" charset="0"/>
              </a:rPr>
              <a:t> – Image preprocessing </a:t>
            </a:r>
          </a:p>
          <a:p>
            <a:pPr marL="342900" indent="-34290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Matplotlib</a:t>
            </a:r>
            <a:r>
              <a:rPr lang="en-IN" sz="2400" dirty="0">
                <a:latin typeface="Times New Roman" panose="02020603050405020304" pitchFamily="18" charset="0"/>
                <a:cs typeface="Times New Roman" panose="02020603050405020304" pitchFamily="18" charset="0"/>
              </a:rPr>
              <a:t> – Graph visualization</a:t>
            </a:r>
          </a:p>
          <a:p>
            <a:r>
              <a:rPr lang="en-IN"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Google </a:t>
            </a:r>
            <a:r>
              <a:rPr lang="en-IN" sz="2400" b="1" dirty="0" err="1">
                <a:latin typeface="Times New Roman" panose="02020603050405020304" pitchFamily="18" charset="0"/>
                <a:cs typeface="Times New Roman" panose="02020603050405020304" pitchFamily="18" charset="0"/>
              </a:rPr>
              <a:t>Colab</a:t>
            </a:r>
            <a:r>
              <a:rPr lang="en-IN" sz="2400" dirty="0">
                <a:latin typeface="Times New Roman" panose="02020603050405020304" pitchFamily="18" charset="0"/>
                <a:cs typeface="Times New Roman" panose="02020603050405020304" pitchFamily="18" charset="0"/>
              </a:rPr>
              <a:t> – Training with GPU support </a:t>
            </a:r>
          </a:p>
          <a:p>
            <a:pPr marL="342900" indent="-34290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b="1" dirty="0">
                <a:latin typeface="Times New Roman" panose="02020603050405020304" pitchFamily="18" charset="0"/>
                <a:cs typeface="Times New Roman" panose="02020603050405020304" pitchFamily="18" charset="0"/>
              </a:rPr>
              <a:t>Grad-CAM</a:t>
            </a:r>
            <a:r>
              <a:rPr lang="en-IN" sz="2400" dirty="0">
                <a:latin typeface="Times New Roman" panose="02020603050405020304" pitchFamily="18" charset="0"/>
                <a:cs typeface="Times New Roman" panose="02020603050405020304" pitchFamily="18" charset="0"/>
              </a:rPr>
              <a:t> – Explainable AI (heatmap visualization) </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91D5141-2342-E35E-56CF-7204064F9D49}"/>
              </a:ext>
            </a:extLst>
          </p:cNvPr>
          <p:cNvPicPr>
            <a:picLocks noGrp="1" noChangeAspect="1"/>
          </p:cNvPicPr>
          <p:nvPr>
            <p:ph idx="1"/>
          </p:nvPr>
        </p:nvPicPr>
        <p:blipFill>
          <a:blip r:embed="rId2"/>
          <a:stretch>
            <a:fillRect/>
          </a:stretch>
        </p:blipFill>
        <p:spPr>
          <a:xfrm>
            <a:off x="2383436" y="1110489"/>
            <a:ext cx="8778605" cy="4975517"/>
          </a:xfrm>
          <a:prstGeom prst="rect">
            <a:avLst/>
          </a:prstGeom>
        </p:spPr>
      </p:pic>
      <p:sp>
        <p:nvSpPr>
          <p:cNvPr id="8" name="TextBox 7">
            <a:extLst>
              <a:ext uri="{FF2B5EF4-FFF2-40B4-BE49-F238E27FC236}">
                <a16:creationId xmlns:a16="http://schemas.microsoft.com/office/drawing/2014/main" id="{E58A9224-34EF-6FC1-BBB7-794970F61796}"/>
              </a:ext>
            </a:extLst>
          </p:cNvPr>
          <p:cNvSpPr txBox="1"/>
          <p:nvPr/>
        </p:nvSpPr>
        <p:spPr>
          <a:xfrm>
            <a:off x="464695" y="314794"/>
            <a:ext cx="920396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GPDS Signature Dataset Overview:</a:t>
            </a:r>
          </a:p>
        </p:txBody>
      </p:sp>
    </p:spTree>
    <p:extLst>
      <p:ext uri="{BB962C8B-B14F-4D97-AF65-F5344CB8AC3E}">
        <p14:creationId xmlns:p14="http://schemas.microsoft.com/office/powerpoint/2010/main" val="2379428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33E91DF-B966-9B75-D962-42A92F3A9442}"/>
              </a:ext>
            </a:extLst>
          </p:cNvPr>
          <p:cNvPicPr>
            <a:picLocks noGrp="1" noChangeAspect="1"/>
          </p:cNvPicPr>
          <p:nvPr>
            <p:ph idx="1"/>
          </p:nvPr>
        </p:nvPicPr>
        <p:blipFill>
          <a:blip r:embed="rId2"/>
          <a:stretch>
            <a:fillRect/>
          </a:stretch>
        </p:blipFill>
        <p:spPr>
          <a:xfrm>
            <a:off x="542925" y="1021556"/>
            <a:ext cx="10839450" cy="4814887"/>
          </a:xfrm>
          <a:prstGeom prst="rect">
            <a:avLst/>
          </a:prstGeom>
        </p:spPr>
      </p:pic>
      <p:sp>
        <p:nvSpPr>
          <p:cNvPr id="8" name="TextBox 7">
            <a:extLst>
              <a:ext uri="{FF2B5EF4-FFF2-40B4-BE49-F238E27FC236}">
                <a16:creationId xmlns:a16="http://schemas.microsoft.com/office/drawing/2014/main" id="{E435976F-D68F-65D8-14A5-5A168ABCE3E7}"/>
              </a:ext>
            </a:extLst>
          </p:cNvPr>
          <p:cNvSpPr txBox="1"/>
          <p:nvPr/>
        </p:nvSpPr>
        <p:spPr>
          <a:xfrm>
            <a:off x="389745" y="404734"/>
            <a:ext cx="858936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Prediction output of signature Forgery detection: </a:t>
            </a:r>
          </a:p>
        </p:txBody>
      </p:sp>
    </p:spTree>
    <p:extLst>
      <p:ext uri="{BB962C8B-B14F-4D97-AF65-F5344CB8AC3E}">
        <p14:creationId xmlns:p14="http://schemas.microsoft.com/office/powerpoint/2010/main" val="382500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B057592-5620-1892-74FF-0BB5B6914E1D}"/>
              </a:ext>
            </a:extLst>
          </p:cNvPr>
          <p:cNvPicPr>
            <a:picLocks noGrp="1" noChangeAspect="1"/>
          </p:cNvPicPr>
          <p:nvPr>
            <p:ph idx="1"/>
          </p:nvPr>
        </p:nvPicPr>
        <p:blipFill>
          <a:blip r:embed="rId2"/>
          <a:stretch>
            <a:fillRect/>
          </a:stretch>
        </p:blipFill>
        <p:spPr>
          <a:xfrm>
            <a:off x="2857501" y="1244184"/>
            <a:ext cx="5357110" cy="4983813"/>
          </a:xfrm>
          <a:prstGeom prst="rect">
            <a:avLst/>
          </a:prstGeom>
        </p:spPr>
      </p:pic>
      <p:sp>
        <p:nvSpPr>
          <p:cNvPr id="9" name="TextBox 8">
            <a:extLst>
              <a:ext uri="{FF2B5EF4-FFF2-40B4-BE49-F238E27FC236}">
                <a16:creationId xmlns:a16="http://schemas.microsoft.com/office/drawing/2014/main" id="{D8794EC6-DA85-4833-2B89-8BBFAB68C92C}"/>
              </a:ext>
            </a:extLst>
          </p:cNvPr>
          <p:cNvSpPr txBox="1"/>
          <p:nvPr/>
        </p:nvSpPr>
        <p:spPr>
          <a:xfrm>
            <a:off x="254833" y="254833"/>
            <a:ext cx="584116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Final Prediction Result:</a:t>
            </a:r>
          </a:p>
        </p:txBody>
      </p:sp>
    </p:spTree>
    <p:extLst>
      <p:ext uri="{BB962C8B-B14F-4D97-AF65-F5344CB8AC3E}">
        <p14:creationId xmlns:p14="http://schemas.microsoft.com/office/powerpoint/2010/main" val="1986480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844AD1-D191-3E39-F75F-38EFB128B568}"/>
              </a:ext>
            </a:extLst>
          </p:cNvPr>
          <p:cNvSpPr txBox="1"/>
          <p:nvPr/>
        </p:nvSpPr>
        <p:spPr>
          <a:xfrm>
            <a:off x="402410" y="141538"/>
            <a:ext cx="4080387"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LITERATURE SURVEY</a:t>
            </a:r>
          </a:p>
        </p:txBody>
      </p:sp>
      <p:graphicFrame>
        <p:nvGraphicFramePr>
          <p:cNvPr id="2" name="Table 1">
            <a:extLst>
              <a:ext uri="{FF2B5EF4-FFF2-40B4-BE49-F238E27FC236}">
                <a16:creationId xmlns:a16="http://schemas.microsoft.com/office/drawing/2014/main" id="{703442F7-C1B2-E41A-D622-2CC0702DE8DB}"/>
              </a:ext>
            </a:extLst>
          </p:cNvPr>
          <p:cNvGraphicFramePr>
            <a:graphicFrameLocks noGrp="1"/>
          </p:cNvGraphicFramePr>
          <p:nvPr>
            <p:extLst>
              <p:ext uri="{D42A27DB-BD31-4B8C-83A1-F6EECF244321}">
                <p14:modId xmlns:p14="http://schemas.microsoft.com/office/powerpoint/2010/main" val="1130255956"/>
              </p:ext>
            </p:extLst>
          </p:nvPr>
        </p:nvGraphicFramePr>
        <p:xfrm>
          <a:off x="525515" y="659876"/>
          <a:ext cx="11050600" cy="5430715"/>
        </p:xfrm>
        <a:graphic>
          <a:graphicData uri="http://schemas.openxmlformats.org/drawingml/2006/table">
            <a:tbl>
              <a:tblPr firstRow="1" bandRow="1">
                <a:tableStyleId>{F5AB1C69-6EDB-4FF4-983F-18BD219EF322}</a:tableStyleId>
              </a:tblPr>
              <a:tblGrid>
                <a:gridCol w="2210120">
                  <a:extLst>
                    <a:ext uri="{9D8B030D-6E8A-4147-A177-3AD203B41FA5}">
                      <a16:colId xmlns:a16="http://schemas.microsoft.com/office/drawing/2014/main" val="3209971503"/>
                    </a:ext>
                  </a:extLst>
                </a:gridCol>
                <a:gridCol w="2207840">
                  <a:extLst>
                    <a:ext uri="{9D8B030D-6E8A-4147-A177-3AD203B41FA5}">
                      <a16:colId xmlns:a16="http://schemas.microsoft.com/office/drawing/2014/main" val="194772471"/>
                    </a:ext>
                  </a:extLst>
                </a:gridCol>
                <a:gridCol w="2212400">
                  <a:extLst>
                    <a:ext uri="{9D8B030D-6E8A-4147-A177-3AD203B41FA5}">
                      <a16:colId xmlns:a16="http://schemas.microsoft.com/office/drawing/2014/main" val="3451251346"/>
                    </a:ext>
                  </a:extLst>
                </a:gridCol>
                <a:gridCol w="2210120">
                  <a:extLst>
                    <a:ext uri="{9D8B030D-6E8A-4147-A177-3AD203B41FA5}">
                      <a16:colId xmlns:a16="http://schemas.microsoft.com/office/drawing/2014/main" val="2398473559"/>
                    </a:ext>
                  </a:extLst>
                </a:gridCol>
                <a:gridCol w="2210120">
                  <a:extLst>
                    <a:ext uri="{9D8B030D-6E8A-4147-A177-3AD203B41FA5}">
                      <a16:colId xmlns:a16="http://schemas.microsoft.com/office/drawing/2014/main" val="2204055404"/>
                    </a:ext>
                  </a:extLst>
                </a:gridCol>
              </a:tblGrid>
              <a:tr h="569734">
                <a:tc>
                  <a:txBody>
                    <a:bodyPr/>
                    <a:lstStyle/>
                    <a:p>
                      <a:pPr algn="ctr"/>
                      <a:r>
                        <a:rPr lang="en-US" sz="1600" dirty="0">
                          <a:latin typeface="Times New Roman" panose="02020603050405020304" pitchFamily="18" charset="0"/>
                          <a:cs typeface="Times New Roman" panose="02020603050405020304" pitchFamily="18" charset="0"/>
                        </a:rPr>
                        <a:t>Paper 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Authors &amp; Year</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Findings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Pros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Cons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854545"/>
                  </a:ext>
                </a:extLst>
              </a:tr>
              <a:tr h="1183447">
                <a:tc>
                  <a:txBody>
                    <a:bodyPr/>
                    <a:lstStyle/>
                    <a:p>
                      <a:r>
                        <a:rPr lang="en-US" sz="1600" dirty="0">
                          <a:latin typeface="Times New Roman" panose="02020603050405020304" pitchFamily="18" charset="0"/>
                          <a:cs typeface="Times New Roman" panose="02020603050405020304" pitchFamily="18" charset="0"/>
                        </a:rPr>
                        <a:t>Offline Signature Verification using </a:t>
                      </a:r>
                    </a:p>
                    <a:p>
                      <a:r>
                        <a:rPr lang="en-US" sz="1600" dirty="0">
                          <a:latin typeface="Times New Roman" panose="02020603050405020304" pitchFamily="18" charset="0"/>
                          <a:cs typeface="Times New Roman" panose="02020603050405020304" pitchFamily="18" charset="0"/>
                        </a:rPr>
                        <a:t>CNN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Hafemann et al.,2017</a:t>
                      </a:r>
                    </a:p>
                  </a:txBody>
                  <a:tcPr/>
                </a:tc>
                <a:tc>
                  <a:txBody>
                    <a:bodyPr/>
                    <a:lstStyle/>
                    <a:p>
                      <a:r>
                        <a:rPr lang="en-US" sz="1600" dirty="0">
                          <a:latin typeface="Times New Roman" panose="02020603050405020304" pitchFamily="18" charset="0"/>
                          <a:cs typeface="Times New Roman" panose="02020603050405020304" pitchFamily="18" charset="0"/>
                        </a:rPr>
                        <a:t>CNN model used to learn signature patterns and classify genuine vs forged signatures with high accuracy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Automatic feature extraction; High accuracy</a:t>
                      </a:r>
                    </a:p>
                  </a:txBody>
                  <a:tcPr/>
                </a:tc>
                <a:tc>
                  <a:txBody>
                    <a:bodyPr/>
                    <a:lstStyle/>
                    <a:p>
                      <a:r>
                        <a:rPr lang="en-US" sz="1600" dirty="0">
                          <a:latin typeface="Times New Roman" panose="02020603050405020304" pitchFamily="18" charset="0"/>
                          <a:cs typeface="Times New Roman" panose="02020603050405020304" pitchFamily="18" charset="0"/>
                        </a:rPr>
                        <a:t>Requires large </a:t>
                      </a:r>
                      <a:r>
                        <a:rPr lang="en-US" sz="1600" dirty="0" err="1">
                          <a:latin typeface="Times New Roman" panose="02020603050405020304" pitchFamily="18" charset="0"/>
                          <a:cs typeface="Times New Roman" panose="02020603050405020304" pitchFamily="18" charset="0"/>
                        </a:rPr>
                        <a:t>datset</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Computational cost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6718537"/>
                  </a:ext>
                </a:extLst>
              </a:tr>
              <a:tr h="1183447">
                <a:tc>
                  <a:txBody>
                    <a:bodyPr/>
                    <a:lstStyle/>
                    <a:p>
                      <a:r>
                        <a:rPr lang="en-US" sz="1600" dirty="0">
                          <a:latin typeface="Times New Roman" panose="02020603050405020304" pitchFamily="18" charset="0"/>
                          <a:cs typeface="Times New Roman" panose="02020603050405020304" pitchFamily="18" charset="0"/>
                        </a:rPr>
                        <a:t>Signature Verification using Deep Learning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Dey et al.,2018</a:t>
                      </a:r>
                    </a:p>
                  </a:txBody>
                  <a:tcPr/>
                </a:tc>
                <a:tc>
                  <a:txBody>
                    <a:bodyPr/>
                    <a:lstStyle/>
                    <a:p>
                      <a:r>
                        <a:rPr lang="en-US" sz="1600" dirty="0">
                          <a:latin typeface="Times New Roman" panose="02020603050405020304" pitchFamily="18" charset="0"/>
                          <a:cs typeface="Times New Roman" panose="02020603050405020304" pitchFamily="18" charset="0"/>
                        </a:rPr>
                        <a:t>Deep neural networks improve verification accuracy compared to traditional ML methods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Better performance; Handles complex patterns</a:t>
                      </a:r>
                    </a:p>
                  </a:txBody>
                  <a:tcPr/>
                </a:tc>
                <a:tc>
                  <a:txBody>
                    <a:bodyPr/>
                    <a:lstStyle/>
                    <a:p>
                      <a:r>
                        <a:rPr lang="en-IN" sz="1600" dirty="0">
                          <a:latin typeface="Times New Roman" panose="02020603050405020304" pitchFamily="18" charset="0"/>
                          <a:cs typeface="Times New Roman" panose="02020603050405020304" pitchFamily="18" charset="0"/>
                        </a:rPr>
                        <a:t>Needs training time Overfitting risk</a:t>
                      </a:r>
                    </a:p>
                  </a:txBody>
                  <a:tcPr/>
                </a:tc>
                <a:extLst>
                  <a:ext uri="{0D108BD9-81ED-4DB2-BD59-A6C34878D82A}">
                    <a16:rowId xmlns:a16="http://schemas.microsoft.com/office/drawing/2014/main" val="3632199739"/>
                  </a:ext>
                </a:extLst>
              </a:tr>
              <a:tr h="1183447">
                <a:tc>
                  <a:txBody>
                    <a:bodyPr/>
                    <a:lstStyle/>
                    <a:p>
                      <a:r>
                        <a:rPr lang="en-US" sz="1600" dirty="0">
                          <a:latin typeface="Times New Roman" panose="02020603050405020304" pitchFamily="18" charset="0"/>
                          <a:cs typeface="Times New Roman" panose="02020603050405020304" pitchFamily="18" charset="0"/>
                        </a:rPr>
                        <a:t>Transfer Learning using InceptionV3 for Image Classification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Szegedy et al., 2016</a:t>
                      </a:r>
                    </a:p>
                  </a:txBody>
                  <a:tcPr/>
                </a:tc>
                <a:tc>
                  <a:txBody>
                    <a:bodyPr/>
                    <a:lstStyle/>
                    <a:p>
                      <a:r>
                        <a:rPr lang="en-US" sz="1600" dirty="0">
                          <a:latin typeface="Times New Roman" panose="02020603050405020304" pitchFamily="18" charset="0"/>
                          <a:cs typeface="Times New Roman" panose="02020603050405020304" pitchFamily="18" charset="0"/>
                        </a:rPr>
                        <a:t>InceptionV3 model extracts deep features and improves classification results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High accuracy; Pretrained model reduces effort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Complex architecture; Requires GPU</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9439679"/>
                  </a:ext>
                </a:extLst>
              </a:tr>
              <a:tr h="1183447">
                <a:tc>
                  <a:txBody>
                    <a:bodyPr/>
                    <a:lstStyle/>
                    <a:p>
                      <a:r>
                        <a:rPr lang="en-IN" sz="1600" dirty="0">
                          <a:latin typeface="Times New Roman" panose="02020603050405020304" pitchFamily="18" charset="0"/>
                          <a:cs typeface="Times New Roman" panose="02020603050405020304" pitchFamily="18" charset="0"/>
                        </a:rPr>
                        <a:t>Offline Signature Forgery Detection using CNN</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Soleimani et al., 2019</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CNN detects forged signatures based on texture and stroke features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Good forgery detection; Robust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Sensitive to image quality</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2697728"/>
                  </a:ext>
                </a:extLst>
              </a:tr>
            </a:tbl>
          </a:graphicData>
        </a:graphic>
      </p:graphicFrame>
    </p:spTree>
    <p:extLst>
      <p:ext uri="{BB962C8B-B14F-4D97-AF65-F5344CB8AC3E}">
        <p14:creationId xmlns:p14="http://schemas.microsoft.com/office/powerpoint/2010/main" val="2371551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
          <p:cNvSpPr txBox="1">
            <a:spLocks noGrp="1"/>
          </p:cNvSpPr>
          <p:nvPr>
            <p:ph type="title"/>
          </p:nvPr>
        </p:nvSpPr>
        <p:spPr>
          <a:xfrm>
            <a:off x="485775" y="171450"/>
            <a:ext cx="3955812" cy="818121"/>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rgbClr val="323F4F"/>
              </a:buClr>
              <a:buSzPts val="2400"/>
              <a:buFont typeface="Times New Roman"/>
              <a:buNone/>
            </a:pPr>
            <a:r>
              <a:rPr lang="en-US" sz="2400" b="1" dirty="0">
                <a:latin typeface="Times New Roman"/>
                <a:ea typeface="Times New Roman"/>
                <a:cs typeface="Times New Roman"/>
                <a:sym typeface="Times New Roman"/>
              </a:rPr>
              <a:t>OUTCOMES :</a:t>
            </a:r>
            <a:endParaRPr sz="2400" b="1" dirty="0">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18B118E5-5C8C-C4F6-A6F0-0048251811F6}"/>
              </a:ext>
            </a:extLst>
          </p:cNvPr>
          <p:cNvSpPr txBox="1"/>
          <p:nvPr/>
        </p:nvSpPr>
        <p:spPr>
          <a:xfrm>
            <a:off x="585987" y="989573"/>
            <a:ext cx="10801151" cy="5970865"/>
          </a:xfrm>
          <a:prstGeom prst="rect">
            <a:avLst/>
          </a:prstGeom>
          <a:noFill/>
        </p:spPr>
        <p:txBody>
          <a:bodyPr wrap="square" rtlCol="0">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High accuracy (around </a:t>
            </a:r>
            <a:r>
              <a:rPr lang="en-US" sz="2400" b="1" dirty="0">
                <a:latin typeface="Times New Roman" panose="02020603050405020304" pitchFamily="18" charset="0"/>
                <a:cs typeface="Times New Roman" panose="02020603050405020304" pitchFamily="18" charset="0"/>
              </a:rPr>
              <a:t>85–90%</a:t>
            </a:r>
            <a:r>
              <a:rPr lang="en-US" sz="2400" dirty="0">
                <a:latin typeface="Times New Roman" panose="02020603050405020304" pitchFamily="18" charset="0"/>
                <a:cs typeface="Times New Roman" panose="02020603050405020304" pitchFamily="18" charset="0"/>
              </a:rPr>
              <a:t>) in detecting forged signatures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Correct classification of </a:t>
            </a:r>
            <a:r>
              <a:rPr lang="en-US" sz="2400" b="1" dirty="0">
                <a:latin typeface="Times New Roman" panose="02020603050405020304" pitchFamily="18" charset="0"/>
                <a:cs typeface="Times New Roman" panose="02020603050405020304" pitchFamily="18" charset="0"/>
              </a:rPr>
              <a:t>Genuine vs Forged</a:t>
            </a:r>
            <a:r>
              <a:rPr lang="en-US" sz="2400" dirty="0">
                <a:latin typeface="Times New Roman" panose="02020603050405020304" pitchFamily="18" charset="0"/>
                <a:cs typeface="Times New Roman" panose="02020603050405020304" pitchFamily="18" charset="0"/>
              </a:rPr>
              <a:t> signatures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Fast and reliable prediction results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Ability to handle variations in handwriting styles</a:t>
            </a:r>
          </a:p>
          <a:p>
            <a:r>
              <a:rPr 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Detection of complex and skilled forgeries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Visual explanation using </a:t>
            </a:r>
            <a:r>
              <a:rPr lang="en-US" sz="2400" b="1" dirty="0">
                <a:latin typeface="Times New Roman" panose="02020603050405020304" pitchFamily="18" charset="0"/>
                <a:cs typeface="Times New Roman" panose="02020603050405020304" pitchFamily="18" charset="0"/>
              </a:rPr>
              <a:t>Grad-CAM heatmaps</a:t>
            </a:r>
            <a:r>
              <a:rPr 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Improved transparency and trust in predictions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Suitable for real-world applications like banking and fraud detection </a:t>
            </a:r>
          </a:p>
          <a:p>
            <a:pPr marL="342900" indent="-342900">
              <a:spcAft>
                <a:spcPts val="1200"/>
              </a:spcAft>
              <a:buFont typeface="Wingdings" panose="05000000000000000000" pitchFamily="2" charset="2"/>
              <a:buChar char="ü"/>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EBE541-4CFA-FC12-2716-3F1E5FBF3089}"/>
              </a:ext>
            </a:extLst>
          </p:cNvPr>
          <p:cNvPicPr>
            <a:picLocks noChangeAspect="1"/>
          </p:cNvPicPr>
          <p:nvPr/>
        </p:nvPicPr>
        <p:blipFill>
          <a:blip r:embed="rId2"/>
          <a:stretch>
            <a:fillRect/>
          </a:stretch>
        </p:blipFill>
        <p:spPr>
          <a:xfrm>
            <a:off x="952500" y="0"/>
            <a:ext cx="9834563" cy="6556375"/>
          </a:xfrm>
          <a:prstGeom prst="rect">
            <a:avLst/>
          </a:prstGeom>
        </p:spPr>
      </p:pic>
    </p:spTree>
    <p:extLst>
      <p:ext uri="{BB962C8B-B14F-4D97-AF65-F5344CB8AC3E}">
        <p14:creationId xmlns:p14="http://schemas.microsoft.com/office/powerpoint/2010/main" val="40012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AA547B-CE65-E48E-D853-D6CD39F88E54}"/>
              </a:ext>
            </a:extLst>
          </p:cNvPr>
          <p:cNvSpPr txBox="1"/>
          <p:nvPr/>
        </p:nvSpPr>
        <p:spPr>
          <a:xfrm>
            <a:off x="257175" y="242889"/>
            <a:ext cx="8371284" cy="637097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Applications:</a:t>
            </a:r>
          </a:p>
          <a:p>
            <a:pPr>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Banking Systems</a:t>
            </a:r>
            <a:r>
              <a:rPr lang="en-IN" sz="2400" dirty="0">
                <a:latin typeface="Times New Roman" panose="02020603050405020304" pitchFamily="18" charset="0"/>
                <a:cs typeface="Times New Roman" panose="02020603050405020304" pitchFamily="18" charset="0"/>
              </a:rPr>
              <a:t> – Cheque signature verification</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Legal Documents</a:t>
            </a:r>
            <a:r>
              <a:rPr lang="en-IN" sz="2400" dirty="0">
                <a:latin typeface="Times New Roman" panose="02020603050405020304" pitchFamily="18" charset="0"/>
                <a:cs typeface="Times New Roman" panose="02020603050405020304" pitchFamily="18" charset="0"/>
              </a:rPr>
              <a:t> – Contract and agreement validation </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Fraud Detection</a:t>
            </a:r>
            <a:r>
              <a:rPr lang="en-IN" sz="2400" dirty="0">
                <a:latin typeface="Times New Roman" panose="02020603050405020304" pitchFamily="18" charset="0"/>
                <a:cs typeface="Times New Roman" panose="02020603050405020304" pitchFamily="18" charset="0"/>
              </a:rPr>
              <a:t> – Prevent identity and financial fraud</a:t>
            </a:r>
          </a:p>
          <a:p>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Government Offices</a:t>
            </a:r>
            <a:r>
              <a:rPr lang="en-IN" sz="2400" dirty="0">
                <a:latin typeface="Times New Roman" panose="02020603050405020304" pitchFamily="18" charset="0"/>
                <a:cs typeface="Times New Roman" panose="02020603050405020304" pitchFamily="18" charset="0"/>
              </a:rPr>
              <a:t> – Document authentication </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Insurance Sector</a:t>
            </a:r>
            <a:r>
              <a:rPr lang="en-IN" sz="2400" dirty="0">
                <a:latin typeface="Times New Roman" panose="02020603050405020304" pitchFamily="18" charset="0"/>
                <a:cs typeface="Times New Roman" panose="02020603050405020304" pitchFamily="18" charset="0"/>
              </a:rPr>
              <a:t> – Claim verification </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Digital Platforms</a:t>
            </a:r>
            <a:r>
              <a:rPr lang="en-IN" sz="2400" dirty="0">
                <a:latin typeface="Times New Roman" panose="02020603050405020304" pitchFamily="18" charset="0"/>
                <a:cs typeface="Times New Roman" panose="02020603050405020304" pitchFamily="18" charset="0"/>
              </a:rPr>
              <a:t> – e-signature verification </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Forensic Analysis</a:t>
            </a:r>
            <a:r>
              <a:rPr lang="en-IN" sz="2400" dirty="0">
                <a:latin typeface="Times New Roman" panose="02020603050405020304" pitchFamily="18" charset="0"/>
                <a:cs typeface="Times New Roman" panose="02020603050405020304" pitchFamily="18" charset="0"/>
              </a:rPr>
              <a:t> – Handwriting and signature examination </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Access Control Systems</a:t>
            </a:r>
            <a:r>
              <a:rPr lang="en-IN" sz="2400" dirty="0">
                <a:latin typeface="Times New Roman" panose="02020603050405020304" pitchFamily="18" charset="0"/>
                <a:cs typeface="Times New Roman" panose="02020603050405020304" pitchFamily="18" charset="0"/>
              </a:rPr>
              <a:t> – Identity verification using signatures </a:t>
            </a:r>
          </a:p>
        </p:txBody>
      </p:sp>
    </p:spTree>
    <p:extLst>
      <p:ext uri="{BB962C8B-B14F-4D97-AF65-F5344CB8AC3E}">
        <p14:creationId xmlns:p14="http://schemas.microsoft.com/office/powerpoint/2010/main" val="4019766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0042D6-2663-2A06-63B8-9BDE4D229688}"/>
              </a:ext>
            </a:extLst>
          </p:cNvPr>
          <p:cNvSpPr txBox="1"/>
          <p:nvPr/>
        </p:nvSpPr>
        <p:spPr>
          <a:xfrm>
            <a:off x="285749" y="485775"/>
            <a:ext cx="11061805" cy="521048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CONCLUSION :</a:t>
            </a:r>
          </a:p>
          <a:p>
            <a:pPr algn="just">
              <a:lnSpc>
                <a:spcPct val="150000"/>
              </a:lnSpc>
            </a:pPr>
            <a:r>
              <a:rPr lang="en-US" sz="2400" dirty="0">
                <a:latin typeface="Times New Roman" panose="02020603050405020304" pitchFamily="18" charset="0"/>
                <a:cs typeface="Times New Roman" panose="02020603050405020304" pitchFamily="18" charset="0"/>
              </a:rPr>
              <a:t>The proposed signature forgery detection system successfully utilizes a Convolutional Neural Network based on the InceptionV3 architecture to accurately classify signatures as genuine or forged. By applying preprocessing techniques and transfer learning, the model achieves high accuracy in identifying complex signature patterns. The integration of Grad-CAM enhances the system by providing visual explanations through heatmaps, making the predictions more transparent and understandable. Overall, the system delivers fast, reliable, and explainable results, making it suitable for real-world applications such as banking, legal verification, and fraud detection.</a:t>
            </a:r>
          </a:p>
        </p:txBody>
      </p:sp>
    </p:spTree>
    <p:extLst>
      <p:ext uri="{BB962C8B-B14F-4D97-AF65-F5344CB8AC3E}">
        <p14:creationId xmlns:p14="http://schemas.microsoft.com/office/powerpoint/2010/main" val="26690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7"/>
          <p:cNvSpPr txBox="1">
            <a:spLocks noGrp="1"/>
          </p:cNvSpPr>
          <p:nvPr>
            <p:ph type="title"/>
          </p:nvPr>
        </p:nvSpPr>
        <p:spPr>
          <a:xfrm>
            <a:off x="758087" y="273635"/>
            <a:ext cx="2652600" cy="931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2"/>
              </a:buClr>
              <a:buSzPts val="2400"/>
              <a:buFont typeface="Times New Roman"/>
              <a:buNone/>
            </a:pPr>
            <a:r>
              <a:rPr lang="en-US" sz="2400" b="1" dirty="0">
                <a:latin typeface="Times New Roman"/>
                <a:ea typeface="Times New Roman"/>
                <a:cs typeface="Times New Roman"/>
                <a:sym typeface="Times New Roman"/>
              </a:rPr>
              <a:t>REFERENCES</a:t>
            </a:r>
            <a:endParaRPr dirty="0"/>
          </a:p>
        </p:txBody>
      </p:sp>
      <p:sp>
        <p:nvSpPr>
          <p:cNvPr id="3" name="Content Placeholder 2">
            <a:extLst>
              <a:ext uri="{FF2B5EF4-FFF2-40B4-BE49-F238E27FC236}">
                <a16:creationId xmlns:a16="http://schemas.microsoft.com/office/drawing/2014/main" id="{FB942969-933C-9EA8-9474-FC030DEADB96}"/>
              </a:ext>
            </a:extLst>
          </p:cNvPr>
          <p:cNvSpPr>
            <a:spLocks noGrp="1"/>
          </p:cNvSpPr>
          <p:nvPr>
            <p:ph idx="1"/>
          </p:nvPr>
        </p:nvSpPr>
        <p:spPr>
          <a:xfrm>
            <a:off x="838200" y="1121790"/>
            <a:ext cx="10515600" cy="5055173"/>
          </a:xfrm>
        </p:spPr>
        <p:txBody>
          <a:bodyPr>
            <a:normAutofit fontScale="62500" lnSpcReduction="20000"/>
          </a:bodyPr>
          <a:lstStyle/>
          <a:p>
            <a:pPr>
              <a:lnSpc>
                <a:spcPct val="120000"/>
              </a:lnSpc>
            </a:pPr>
            <a:r>
              <a:rPr lang="en-IN" dirty="0">
                <a:latin typeface="Times New Roman" panose="02020603050405020304" pitchFamily="18" charset="0"/>
                <a:cs typeface="Times New Roman" panose="02020603050405020304" pitchFamily="18" charset="0"/>
              </a:rPr>
              <a:t>1. Writer-Independent Offline Signature Verification using CNN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 Hafemann, R. Sabourin, and L. S. Oliveira, “Writer-Independent Offline Signature Verification using Convolutional Neural Networks,” IEEE Transactions on Information Forensics and Security, 2017.  </a:t>
            </a:r>
            <a:r>
              <a:rPr lang="en-IN" b="1" u="sng" dirty="0">
                <a:latin typeface="Times New Roman" panose="02020603050405020304" pitchFamily="18" charset="0"/>
                <a:cs typeface="Times New Roman" panose="02020603050405020304" pitchFamily="18" charset="0"/>
                <a:hlinkClick r:id="rId3"/>
              </a:rPr>
              <a:t>https://ieeexplore.ieee.org/document/7830858</a:t>
            </a:r>
            <a:endParaRPr lang="en-IN" dirty="0">
              <a:latin typeface="Times New Roman" panose="02020603050405020304" pitchFamily="18" charset="0"/>
              <a:cs typeface="Times New Roman" panose="02020603050405020304" pitchFamily="18" charset="0"/>
            </a:endParaRPr>
          </a:p>
          <a:p>
            <a:pPr>
              <a:lnSpc>
                <a:spcPct val="120000"/>
              </a:lnSpc>
            </a:pPr>
            <a:r>
              <a:rPr lang="en-IN" dirty="0">
                <a:latin typeface="Times New Roman" panose="02020603050405020304" pitchFamily="18" charset="0"/>
                <a:cs typeface="Times New Roman" panose="02020603050405020304" pitchFamily="18" charset="0"/>
              </a:rPr>
              <a:t>2. Learning Features for Offline Signature Verification using Deep CNNs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 S. Oliveira et al., “Learning Features for Offline Handwritten Signature Verification using Deep Convolutional Neural Networks,” </a:t>
            </a:r>
            <a:r>
              <a:rPr lang="en-IN" i="1" dirty="0">
                <a:latin typeface="Times New Roman" panose="02020603050405020304" pitchFamily="18" charset="0"/>
                <a:cs typeface="Times New Roman" panose="02020603050405020304" pitchFamily="18" charset="0"/>
              </a:rPr>
              <a:t>IEEE Transactions on Pattern Analysis and Machine Intelligence</a:t>
            </a:r>
            <a:r>
              <a:rPr lang="en-IN" dirty="0">
                <a:latin typeface="Times New Roman" panose="02020603050405020304" pitchFamily="18" charset="0"/>
                <a:cs typeface="Times New Roman" panose="02020603050405020304" pitchFamily="18" charset="0"/>
              </a:rPr>
              <a:t>, 2016.   </a:t>
            </a:r>
            <a:r>
              <a:rPr lang="en-IN" b="1" u="sng" dirty="0">
                <a:latin typeface="Times New Roman" panose="02020603050405020304" pitchFamily="18" charset="0"/>
                <a:cs typeface="Times New Roman" panose="02020603050405020304" pitchFamily="18" charset="0"/>
                <a:hlinkClick r:id="rId4"/>
              </a:rPr>
              <a:t>https://ieeexplore.ieee.org/document/7467346</a:t>
            </a:r>
            <a:endParaRPr lang="en-IN" dirty="0">
              <a:latin typeface="Times New Roman" panose="02020603050405020304" pitchFamily="18" charset="0"/>
              <a:cs typeface="Times New Roman" panose="02020603050405020304" pitchFamily="18" charset="0"/>
            </a:endParaRPr>
          </a:p>
          <a:p>
            <a:pPr>
              <a:lnSpc>
                <a:spcPct val="120000"/>
              </a:lnSpc>
            </a:pPr>
            <a:r>
              <a:rPr lang="en-IN" dirty="0">
                <a:latin typeface="Times New Roman" panose="02020603050405020304" pitchFamily="18" charset="0"/>
                <a:cs typeface="Times New Roman" panose="02020603050405020304" pitchFamily="18" charset="0"/>
              </a:rPr>
              <a:t>3.Offline Signature Verification: A Survey A. K. Jain, F. D. Griess, and S. D. Connell, “Offline Signature Verification: A Survey,” </a:t>
            </a:r>
            <a:r>
              <a:rPr lang="en-IN" i="1" dirty="0">
                <a:latin typeface="Times New Roman" panose="02020603050405020304" pitchFamily="18" charset="0"/>
                <a:cs typeface="Times New Roman" panose="02020603050405020304" pitchFamily="18" charset="0"/>
              </a:rPr>
              <a:t>Pattern Recognition</a:t>
            </a:r>
            <a:r>
              <a:rPr lang="en-IN" dirty="0">
                <a:latin typeface="Times New Roman" panose="02020603050405020304" pitchFamily="18" charset="0"/>
                <a:cs typeface="Times New Roman" panose="02020603050405020304" pitchFamily="18" charset="0"/>
              </a:rPr>
              <a:t>, 2002.</a:t>
            </a: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hlinkClick r:id="rId5"/>
              </a:rPr>
              <a:t>https://www.sciencedirect.com/science/article/pii/S003132030200118X</a:t>
            </a:r>
            <a:endParaRPr lang="en-IN" dirty="0">
              <a:latin typeface="Times New Roman" panose="02020603050405020304" pitchFamily="18" charset="0"/>
              <a:cs typeface="Times New Roman" panose="02020603050405020304" pitchFamily="18" charset="0"/>
            </a:endParaRPr>
          </a:p>
          <a:p>
            <a:pPr>
              <a:lnSpc>
                <a:spcPct val="120000"/>
              </a:lnSpc>
            </a:pPr>
            <a:r>
              <a:rPr lang="en-IN" dirty="0">
                <a:latin typeface="Times New Roman" panose="02020603050405020304" pitchFamily="18" charset="0"/>
                <a:cs typeface="Times New Roman" panose="02020603050405020304" pitchFamily="18" charset="0"/>
              </a:rPr>
              <a:t>4. ImageNet Classification with Deep CNNs A. Krizhevsky, I. </a:t>
            </a:r>
            <a:r>
              <a:rPr lang="en-IN" dirty="0" err="1">
                <a:latin typeface="Times New Roman" panose="02020603050405020304" pitchFamily="18" charset="0"/>
                <a:cs typeface="Times New Roman" panose="02020603050405020304" pitchFamily="18" charset="0"/>
              </a:rPr>
              <a:t>Sutskever</a:t>
            </a:r>
            <a:r>
              <a:rPr lang="en-IN" dirty="0">
                <a:latin typeface="Times New Roman" panose="02020603050405020304" pitchFamily="18" charset="0"/>
                <a:cs typeface="Times New Roman" panose="02020603050405020304" pitchFamily="18" charset="0"/>
              </a:rPr>
              <a:t>, and G. Hinton, “ImageNet Classification with Deep Convolutional Neural Networks,” </a:t>
            </a:r>
            <a:r>
              <a:rPr lang="en-IN" i="1" dirty="0">
                <a:latin typeface="Times New Roman" panose="02020603050405020304" pitchFamily="18" charset="0"/>
                <a:cs typeface="Times New Roman" panose="02020603050405020304" pitchFamily="18" charset="0"/>
              </a:rPr>
              <a:t>NIPS</a:t>
            </a:r>
            <a:r>
              <a:rPr lang="en-IN" dirty="0">
                <a:latin typeface="Times New Roman" panose="02020603050405020304" pitchFamily="18" charset="0"/>
                <a:cs typeface="Times New Roman" panose="02020603050405020304" pitchFamily="18" charset="0"/>
              </a:rPr>
              <a:t>, 2012. </a:t>
            </a:r>
            <a:r>
              <a:rPr lang="en-IN" b="1" u="sng" dirty="0">
                <a:latin typeface="Times New Roman" panose="02020603050405020304" pitchFamily="18" charset="0"/>
                <a:cs typeface="Times New Roman" panose="02020603050405020304" pitchFamily="18" charset="0"/>
                <a:hlinkClick r:id="rId6"/>
              </a:rPr>
              <a:t>https://papers.nips.cc/paper/4824-imagenet-classification-with-deep-convolutional-neural-networks</a:t>
            </a:r>
            <a:endParaRPr lang="en-IN" dirty="0">
              <a:latin typeface="Times New Roman" panose="02020603050405020304" pitchFamily="18" charset="0"/>
              <a:cs typeface="Times New Roman" panose="02020603050405020304" pitchFamily="18" charset="0"/>
            </a:endParaRPr>
          </a:p>
          <a:p>
            <a:pPr>
              <a:lnSpc>
                <a:spcPct val="120000"/>
              </a:lnSpc>
            </a:pPr>
            <a:r>
              <a:rPr lang="en-IN" b="1"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How Transferable are Features in Deep Neural Networks J. Yosinski et al.,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“How Transferable are Features in Deep Neural Networks?” </a:t>
            </a:r>
            <a:r>
              <a:rPr lang="en-IN" i="1" dirty="0">
                <a:latin typeface="Times New Roman" panose="02020603050405020304" pitchFamily="18" charset="0"/>
                <a:cs typeface="Times New Roman" panose="02020603050405020304" pitchFamily="18" charset="0"/>
              </a:rPr>
              <a:t>NIPS</a:t>
            </a:r>
            <a:r>
              <a:rPr lang="en-IN" dirty="0">
                <a:latin typeface="Times New Roman" panose="02020603050405020304" pitchFamily="18" charset="0"/>
                <a:cs typeface="Times New Roman" panose="02020603050405020304" pitchFamily="18" charset="0"/>
              </a:rPr>
              <a:t>, 2014.</a:t>
            </a: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hlinkClick r:id="rId7"/>
              </a:rPr>
              <a:t>https://arxiv.org/abs/1411.1792</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8"/>
          <p:cNvSpPr txBox="1"/>
          <p:nvPr/>
        </p:nvSpPr>
        <p:spPr>
          <a:xfrm>
            <a:off x="273477" y="609601"/>
            <a:ext cx="27726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323F4F"/>
              </a:buClr>
              <a:buSzPts val="2400"/>
              <a:buFont typeface="Times New Roman"/>
              <a:buNone/>
            </a:pPr>
            <a:r>
              <a:rPr lang="en-US" sz="2400" b="1" dirty="0">
                <a:latin typeface="Times New Roman"/>
                <a:ea typeface="Times New Roman"/>
                <a:cs typeface="Times New Roman"/>
                <a:sym typeface="Times New Roman"/>
              </a:rPr>
              <a:t>REFERENCES</a:t>
            </a:r>
            <a:endParaRPr sz="2400" dirty="0">
              <a:latin typeface="Calibri"/>
              <a:ea typeface="Calibri"/>
              <a:cs typeface="Calibri"/>
              <a:sym typeface="Calibri"/>
            </a:endParaRPr>
          </a:p>
        </p:txBody>
      </p:sp>
      <p:sp>
        <p:nvSpPr>
          <p:cNvPr id="2" name="TextBox 1">
            <a:extLst>
              <a:ext uri="{FF2B5EF4-FFF2-40B4-BE49-F238E27FC236}">
                <a16:creationId xmlns:a16="http://schemas.microsoft.com/office/drawing/2014/main" id="{B60D1626-5AB1-D53C-A70C-5A477A18196C}"/>
              </a:ext>
            </a:extLst>
          </p:cNvPr>
          <p:cNvSpPr txBox="1"/>
          <p:nvPr/>
        </p:nvSpPr>
        <p:spPr>
          <a:xfrm>
            <a:off x="652021" y="1201182"/>
            <a:ext cx="10887958" cy="8402300"/>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6. An Introduction to ROC Analysis T. Fawcett, “An Introduction to ROC Analysis,” Pattern Recognition Letters, 2006 .</a:t>
            </a:r>
            <a:r>
              <a:rPr lang="en-IN" b="1" u="sng" dirty="0">
                <a:latin typeface="Times New Roman" panose="02020603050405020304" pitchFamily="18" charset="0"/>
                <a:cs typeface="Times New Roman" panose="02020603050405020304" pitchFamily="18" charset="0"/>
                <a:hlinkClick r:id="rId2"/>
              </a:rPr>
              <a:t>https://www.sciencedirect.com/science/article/pii/S016786550500303X</a:t>
            </a:r>
            <a:endParaRPr lang="en-IN" b="1" u="sng"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7.Explainable Artificial Intelligence: A Survey A. </a:t>
            </a:r>
            <a:r>
              <a:rPr lang="en-IN" dirty="0" err="1">
                <a:latin typeface="Times New Roman" panose="02020603050405020304" pitchFamily="18" charset="0"/>
                <a:cs typeface="Times New Roman" panose="02020603050405020304" pitchFamily="18" charset="0"/>
              </a:rPr>
              <a:t>Adadi</a:t>
            </a:r>
            <a:r>
              <a:rPr lang="en-IN" dirty="0">
                <a:latin typeface="Times New Roman" panose="02020603050405020304" pitchFamily="18" charset="0"/>
                <a:cs typeface="Times New Roman" panose="02020603050405020304" pitchFamily="18" charset="0"/>
              </a:rPr>
              <a:t> and M. Berrada, “Peeking Inside the Black-Box: A Survey on Explainable AI,”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2018. </a:t>
            </a:r>
            <a:r>
              <a:rPr lang="en-IN" b="1" u="sng" dirty="0">
                <a:latin typeface="Times New Roman" panose="02020603050405020304" pitchFamily="18" charset="0"/>
                <a:cs typeface="Times New Roman" panose="02020603050405020304" pitchFamily="18" charset="0"/>
                <a:hlinkClick r:id="rId3"/>
              </a:rPr>
              <a:t>https://ieeexplore.ieee.org/document/8466590</a:t>
            </a:r>
            <a:endParaRPr lang="en-IN" b="1" u="sng"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8. Deep Inside Convolutional Networks Visualising Image Classification Models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K. Simonyan et al., “Deep Inside Convolutional Networks: Visualising Image Classification Models,” </a:t>
            </a:r>
            <a:r>
              <a:rPr lang="en-IN" i="1" dirty="0">
                <a:latin typeface="Times New Roman" panose="02020603050405020304" pitchFamily="18" charset="0"/>
                <a:cs typeface="Times New Roman" panose="02020603050405020304" pitchFamily="18" charset="0"/>
              </a:rPr>
              <a:t>ICLR Workshop</a:t>
            </a:r>
            <a:r>
              <a:rPr lang="en-IN" dirty="0">
                <a:latin typeface="Times New Roman" panose="02020603050405020304" pitchFamily="18" charset="0"/>
                <a:cs typeface="Times New Roman" panose="02020603050405020304" pitchFamily="18" charset="0"/>
              </a:rPr>
              <a:t>, 2014.  </a:t>
            </a:r>
            <a:r>
              <a:rPr lang="en-IN" u="sng" dirty="0">
                <a:latin typeface="Times New Roman" panose="02020603050405020304" pitchFamily="18" charset="0"/>
                <a:cs typeface="Times New Roman" panose="02020603050405020304" pitchFamily="18" charset="0"/>
                <a:hlinkClick r:id="rId4"/>
              </a:rPr>
              <a:t>https://arxiv.org/abs/1312.6034</a:t>
            </a:r>
            <a:endParaRPr lang="en-IN" u="sng"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9. GPDS Signature Corpus J. Vargas et al., “Off-line Signature Verification based on Grey Level Information using Texture Features,” </a:t>
            </a:r>
            <a:r>
              <a:rPr lang="en-IN" i="1" dirty="0">
                <a:latin typeface="Times New Roman" panose="02020603050405020304" pitchFamily="18" charset="0"/>
                <a:cs typeface="Times New Roman" panose="02020603050405020304" pitchFamily="18" charset="0"/>
              </a:rPr>
              <a:t>Pattern Recognition</a:t>
            </a:r>
            <a:r>
              <a:rPr lang="en-IN" dirty="0">
                <a:latin typeface="Times New Roman" panose="02020603050405020304" pitchFamily="18" charset="0"/>
                <a:cs typeface="Times New Roman" panose="02020603050405020304" pitchFamily="18" charset="0"/>
              </a:rPr>
              <a:t>, 2011. </a:t>
            </a:r>
            <a:r>
              <a:rPr lang="en-IN" u="sng" dirty="0">
                <a:latin typeface="Times New Roman" panose="02020603050405020304" pitchFamily="18" charset="0"/>
                <a:cs typeface="Times New Roman" panose="02020603050405020304" pitchFamily="18" charset="0"/>
                <a:hlinkClick r:id="rId5"/>
              </a:rPr>
              <a:t>https://www.sciencedirect.com/science/article/pii/S0031320310004244</a:t>
            </a:r>
            <a:endParaRPr lang="en-IN" u="sng"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Adam Optimizer D. P. Kingma and J. Ba, “Adam: A Method for Stochastic Optimization,” </a:t>
            </a:r>
            <a:r>
              <a:rPr lang="en-IN" i="1" dirty="0">
                <a:latin typeface="Times New Roman" panose="02020603050405020304" pitchFamily="18" charset="0"/>
                <a:cs typeface="Times New Roman" panose="02020603050405020304" pitchFamily="18" charset="0"/>
              </a:rPr>
              <a:t>ICLR</a:t>
            </a:r>
            <a:r>
              <a:rPr lang="en-IN" dirty="0">
                <a:latin typeface="Times New Roman" panose="02020603050405020304" pitchFamily="18" charset="0"/>
                <a:cs typeface="Times New Roman" panose="02020603050405020304" pitchFamily="18" charset="0"/>
              </a:rPr>
              <a:t>, 2015. </a:t>
            </a:r>
            <a:r>
              <a:rPr lang="en-IN" u="sng" dirty="0">
                <a:latin typeface="Times New Roman" panose="02020603050405020304" pitchFamily="18" charset="0"/>
                <a:cs typeface="Times New Roman" panose="02020603050405020304" pitchFamily="18" charset="0"/>
                <a:hlinkClick r:id="rId6"/>
              </a:rPr>
              <a:t>https://arxiv.org/abs/1412.6980</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 </a:t>
            </a:r>
          </a:p>
          <a:p>
            <a:r>
              <a:rPr lang="en-IN" sz="2200" dirty="0"/>
              <a:t> </a:t>
            </a:r>
          </a:p>
          <a:p>
            <a:r>
              <a:rPr lang="en-IN" sz="2200" dirty="0"/>
              <a:t> </a:t>
            </a:r>
          </a:p>
          <a:p>
            <a:r>
              <a:rPr lang="en-IN" sz="2200" dirty="0"/>
              <a:t> </a:t>
            </a:r>
          </a:p>
          <a:p>
            <a:r>
              <a:rPr lang="en-IN" sz="2200" b="1" dirty="0"/>
              <a:t> </a:t>
            </a:r>
            <a:endParaRPr lang="en-IN" sz="2200" dirty="0"/>
          </a:p>
          <a:p>
            <a:r>
              <a:rPr lang="en-IN" sz="2200" dirty="0"/>
              <a:t> </a:t>
            </a:r>
          </a:p>
          <a:p>
            <a:r>
              <a:rPr lang="en-IN" sz="2200" dirty="0"/>
              <a:t> </a:t>
            </a:r>
          </a:p>
          <a:p>
            <a:r>
              <a:rPr lang="en-IN" sz="2200" dirty="0"/>
              <a:t>  </a:t>
            </a:r>
            <a:br>
              <a:rPr lang="en-IN" sz="2200" dirty="0"/>
            </a:br>
            <a:endParaRPr lang="en-IN"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9C2263-FB2F-0F1B-686C-1625004FC28D}"/>
              </a:ext>
            </a:extLst>
          </p:cNvPr>
          <p:cNvSpPr txBox="1"/>
          <p:nvPr/>
        </p:nvSpPr>
        <p:spPr>
          <a:xfrm>
            <a:off x="3214540" y="2381111"/>
            <a:ext cx="5731497" cy="1015663"/>
          </a:xfrm>
          <a:prstGeom prst="rect">
            <a:avLst/>
          </a:prstGeom>
          <a:noFill/>
        </p:spPr>
        <p:txBody>
          <a:bodyPr wrap="square" rtlCol="0">
            <a:spAutoFit/>
          </a:bodyPr>
          <a:lstStyle/>
          <a:p>
            <a:pPr algn="ctr"/>
            <a:r>
              <a:rPr 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9247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1600</TotalTime>
  <Words>1609</Words>
  <Application>Microsoft Office PowerPoint</Application>
  <PresentationFormat>Widescreen</PresentationFormat>
  <Paragraphs>186</Paragraphs>
  <Slides>21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Century Gothic</vt:lpstr>
      <vt:lpstr>Times New Roman</vt:lpstr>
      <vt:lpstr>Wingdings</vt:lpstr>
      <vt:lpstr>Office Theme</vt:lpstr>
      <vt:lpstr>  </vt:lpstr>
      <vt:lpstr>ABSTRACT :</vt:lpstr>
      <vt:lpstr>PROBLEM STATEMENT:</vt:lpstr>
      <vt:lpstr>PowerPoint Presentation</vt:lpstr>
      <vt:lpstr>PowerPoint Presentation</vt:lpstr>
      <vt:lpstr>PowerPoint Presentation</vt:lpstr>
      <vt:lpstr>PowerPoint Presentation</vt:lpstr>
      <vt:lpstr>PowerPoint Presentation</vt:lpstr>
      <vt:lpstr>ARCHITECTURAL DESIGN FOR PROPOSED SYSTEM:</vt:lpstr>
      <vt:lpstr>PowerPoint Presentation</vt:lpstr>
      <vt:lpstr>PowerPoint Presentation</vt:lpstr>
      <vt:lpstr>PowerPoint Presentation</vt:lpstr>
      <vt:lpstr>PowerPoint Presentation</vt:lpstr>
      <vt:lpstr>PowerPoint Presentation</vt:lpstr>
      <vt:lpstr>OUTCOMES :</vt:lpstr>
      <vt:lpstr>PowerPoint Presentation</vt:lpstr>
      <vt:lpstr>PowerPoint Presentation</vt:lpstr>
      <vt:lpstr>PowerPoint Presentation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VINODHINI KR</dc:creator>
  <cp:lastModifiedBy>Kiruthika Karthikeyan</cp:lastModifiedBy>
  <cp:revision>27</cp:revision>
  <dcterms:modified xsi:type="dcterms:W3CDTF">2026-05-06T05:36:22Z</dcterms:modified>
</cp:coreProperties>
</file>